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92" r:id="rId5"/>
    <p:sldId id="310" r:id="rId6"/>
    <p:sldId id="309" r:id="rId7"/>
    <p:sldId id="311" r:id="rId8"/>
    <p:sldId id="312" r:id="rId9"/>
    <p:sldId id="313" r:id="rId10"/>
    <p:sldId id="314" r:id="rId11"/>
    <p:sldId id="315" r:id="rId12"/>
    <p:sldId id="316" r:id="rId13"/>
    <p:sldId id="317" r:id="rId14"/>
    <p:sldId id="318" r:id="rId15"/>
    <p:sldId id="319" r:id="rId16"/>
    <p:sldId id="320" r:id="rId17"/>
    <p:sldId id="321" r:id="rId18"/>
    <p:sldId id="353" r:id="rId19"/>
    <p:sldId id="322" r:id="rId20"/>
    <p:sldId id="323" r:id="rId21"/>
    <p:sldId id="324" r:id="rId22"/>
    <p:sldId id="325" r:id="rId23"/>
    <p:sldId id="32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509919-36B5-4162-8899-417A9F93473B}" type="doc">
      <dgm:prSet loTypeId="urn:microsoft.com/office/officeart/2016/7/layout/LinearBlockProcessNumbered#1" loCatId="process" qsTypeId="urn:microsoft.com/office/officeart/2005/8/quickstyle/simple2" qsCatId="simple" csTypeId="urn:microsoft.com/office/officeart/2005/8/colors/accent0_3" csCatId="mainScheme" phldr="1"/>
      <dgm:spPr/>
      <dgm:t>
        <a:bodyPr/>
        <a:lstStyle/>
        <a:p>
          <a:endParaRPr lang="en-US"/>
        </a:p>
      </dgm:t>
    </dgm:pt>
    <dgm:pt modelId="{AAF9DEE3-8444-4CA1-8BC2-D834D3ED6C74}">
      <dgm:prSet/>
      <dgm:spPr/>
      <dgm:t>
        <a:bodyPr/>
        <a:lstStyle/>
        <a:p>
          <a:r>
            <a:rPr lang="en-US" dirty="0"/>
            <a:t>Billing for services not provided</a:t>
          </a:r>
        </a:p>
      </dgm:t>
    </dgm:pt>
    <dgm:pt modelId="{205BDF49-153E-4CE8-8402-E23704595764}" type="parTrans" cxnId="{0A7DA706-17DD-412A-8BE0-4F6529274E66}">
      <dgm:prSet/>
      <dgm:spPr/>
      <dgm:t>
        <a:bodyPr/>
        <a:lstStyle/>
        <a:p>
          <a:endParaRPr lang="en-US"/>
        </a:p>
      </dgm:t>
    </dgm:pt>
    <dgm:pt modelId="{23210C7F-6847-491E-BE1F-A79529AF2B8B}" type="sibTrans" cxnId="{0A7DA706-17DD-412A-8BE0-4F6529274E66}">
      <dgm:prSet phldrT="01" phldr="0"/>
      <dgm:spPr/>
      <dgm:t>
        <a:bodyPr/>
        <a:lstStyle/>
        <a:p>
          <a:r>
            <a:rPr lang="en-US" dirty="0"/>
            <a:t>01</a:t>
          </a:r>
        </a:p>
      </dgm:t>
    </dgm:pt>
    <dgm:pt modelId="{B2B879BD-3840-400C-92BD-B2C2383358D7}">
      <dgm:prSet/>
      <dgm:spPr/>
      <dgm:t>
        <a:bodyPr/>
        <a:lstStyle/>
        <a:p>
          <a:r>
            <a:rPr lang="en-US" dirty="0"/>
            <a:t>Upcoding</a:t>
          </a:r>
        </a:p>
      </dgm:t>
    </dgm:pt>
    <dgm:pt modelId="{09440D86-F3E6-4A3C-9E78-1AFC56348641}" type="parTrans" cxnId="{42CDCACA-F394-4044-BBF6-522A0005ABCB}">
      <dgm:prSet/>
      <dgm:spPr/>
      <dgm:t>
        <a:bodyPr/>
        <a:lstStyle/>
        <a:p>
          <a:endParaRPr lang="en-US"/>
        </a:p>
      </dgm:t>
    </dgm:pt>
    <dgm:pt modelId="{FBAA44FF-54DE-45C8-9FAC-512C40277233}" type="sibTrans" cxnId="{42CDCACA-F394-4044-BBF6-522A0005ABCB}">
      <dgm:prSet phldrT="02" phldr="0"/>
      <dgm:spPr/>
      <dgm:t>
        <a:bodyPr/>
        <a:lstStyle/>
        <a:p>
          <a:r>
            <a:rPr lang="en-US" dirty="0"/>
            <a:t>02</a:t>
          </a:r>
        </a:p>
      </dgm:t>
    </dgm:pt>
    <dgm:pt modelId="{CA9D674E-4FF1-45DC-82E4-0B2DB6A5363F}">
      <dgm:prSet/>
      <dgm:spPr/>
      <dgm:t>
        <a:bodyPr/>
        <a:lstStyle/>
        <a:p>
          <a:r>
            <a:rPr lang="en-US" dirty="0"/>
            <a:t>Unbundling</a:t>
          </a:r>
        </a:p>
      </dgm:t>
    </dgm:pt>
    <dgm:pt modelId="{F1F10F9B-925A-4787-9D00-91106497A02E}" type="parTrans" cxnId="{C5BD0B3A-2D82-4EC1-9975-05076C4418DA}">
      <dgm:prSet/>
      <dgm:spPr/>
      <dgm:t>
        <a:bodyPr/>
        <a:lstStyle/>
        <a:p>
          <a:endParaRPr lang="en-US"/>
        </a:p>
      </dgm:t>
    </dgm:pt>
    <dgm:pt modelId="{196DA4DC-9DD2-4A39-8A3A-D367BFE5A8BA}" type="sibTrans" cxnId="{C5BD0B3A-2D82-4EC1-9975-05076C4418DA}">
      <dgm:prSet phldrT="03" phldr="0"/>
      <dgm:spPr/>
      <dgm:t>
        <a:bodyPr/>
        <a:lstStyle/>
        <a:p>
          <a:r>
            <a:rPr lang="en-US" dirty="0"/>
            <a:t>03</a:t>
          </a:r>
        </a:p>
      </dgm:t>
    </dgm:pt>
    <dgm:pt modelId="{BBD7CE23-7578-46E4-A32B-49C59E5A3210}">
      <dgm:prSet/>
      <dgm:spPr/>
      <dgm:t>
        <a:bodyPr/>
        <a:lstStyle/>
        <a:p>
          <a:r>
            <a:rPr lang="en-US" dirty="0"/>
            <a:t>Claims for deceased patients</a:t>
          </a:r>
        </a:p>
      </dgm:t>
    </dgm:pt>
    <dgm:pt modelId="{6B895962-D19C-4409-8F0F-0F66FD54659D}" type="parTrans" cxnId="{B10D25B9-6B06-48FB-9A62-C3EA052BDA8D}">
      <dgm:prSet/>
      <dgm:spPr/>
      <dgm:t>
        <a:bodyPr/>
        <a:lstStyle/>
        <a:p>
          <a:endParaRPr lang="en-US"/>
        </a:p>
      </dgm:t>
    </dgm:pt>
    <dgm:pt modelId="{E442A2ED-106E-444D-899D-894C6D9EC064}" type="sibTrans" cxnId="{B10D25B9-6B06-48FB-9A62-C3EA052BDA8D}">
      <dgm:prSet phldrT="04" phldr="0"/>
      <dgm:spPr/>
      <dgm:t>
        <a:bodyPr/>
        <a:lstStyle/>
        <a:p>
          <a:r>
            <a:rPr lang="en-US" dirty="0"/>
            <a:t>04</a:t>
          </a:r>
        </a:p>
      </dgm:t>
    </dgm:pt>
    <dgm:pt modelId="{09F899AB-70CA-46DA-8F8C-58514A9FEF67}" type="pres">
      <dgm:prSet presAssocID="{15509919-36B5-4162-8899-417A9F93473B}" presName="Name0" presStyleCnt="0">
        <dgm:presLayoutVars>
          <dgm:animLvl val="lvl"/>
          <dgm:resizeHandles val="exact"/>
        </dgm:presLayoutVars>
      </dgm:prSet>
      <dgm:spPr/>
    </dgm:pt>
    <dgm:pt modelId="{9E708B2C-9056-43B8-820C-8D4D2D591614}" type="pres">
      <dgm:prSet presAssocID="{AAF9DEE3-8444-4CA1-8BC2-D834D3ED6C74}" presName="compositeNode" presStyleCnt="0">
        <dgm:presLayoutVars>
          <dgm:bulletEnabled val="1"/>
        </dgm:presLayoutVars>
      </dgm:prSet>
      <dgm:spPr/>
    </dgm:pt>
    <dgm:pt modelId="{F4992080-7D4E-4F2B-B608-170DDBB6006A}" type="pres">
      <dgm:prSet presAssocID="{AAF9DEE3-8444-4CA1-8BC2-D834D3ED6C74}" presName="bgRect" presStyleLbl="alignNode1" presStyleIdx="0" presStyleCnt="4"/>
      <dgm:spPr/>
    </dgm:pt>
    <dgm:pt modelId="{15536E38-36FE-4A51-B620-2715BFAD5475}" type="pres">
      <dgm:prSet presAssocID="{23210C7F-6847-491E-BE1F-A79529AF2B8B}" presName="sibTransNodeRect" presStyleLbl="alignNode1" presStyleIdx="0" presStyleCnt="4">
        <dgm:presLayoutVars>
          <dgm:chMax val="0"/>
          <dgm:bulletEnabled val="1"/>
        </dgm:presLayoutVars>
      </dgm:prSet>
      <dgm:spPr/>
    </dgm:pt>
    <dgm:pt modelId="{B158057C-23C1-45AE-9273-5935A8F6104B}" type="pres">
      <dgm:prSet presAssocID="{AAF9DEE3-8444-4CA1-8BC2-D834D3ED6C74}" presName="nodeRect" presStyleLbl="alignNode1" presStyleIdx="0" presStyleCnt="4">
        <dgm:presLayoutVars>
          <dgm:bulletEnabled val="1"/>
        </dgm:presLayoutVars>
      </dgm:prSet>
      <dgm:spPr/>
    </dgm:pt>
    <dgm:pt modelId="{5D52B8B6-958E-480C-9455-911A104C8C73}" type="pres">
      <dgm:prSet presAssocID="{23210C7F-6847-491E-BE1F-A79529AF2B8B}" presName="sibTrans" presStyleCnt="0"/>
      <dgm:spPr/>
    </dgm:pt>
    <dgm:pt modelId="{070CFBFA-AE62-406D-B2E3-4A871FE3EC95}" type="pres">
      <dgm:prSet presAssocID="{B2B879BD-3840-400C-92BD-B2C2383358D7}" presName="compositeNode" presStyleCnt="0">
        <dgm:presLayoutVars>
          <dgm:bulletEnabled val="1"/>
        </dgm:presLayoutVars>
      </dgm:prSet>
      <dgm:spPr/>
    </dgm:pt>
    <dgm:pt modelId="{89A9B4CF-6439-46B1-B6A9-1D6CD5034774}" type="pres">
      <dgm:prSet presAssocID="{B2B879BD-3840-400C-92BD-B2C2383358D7}" presName="bgRect" presStyleLbl="alignNode1" presStyleIdx="1" presStyleCnt="4"/>
      <dgm:spPr/>
    </dgm:pt>
    <dgm:pt modelId="{379B8CE4-8135-4F2C-A5A0-E55EBE328E9A}" type="pres">
      <dgm:prSet presAssocID="{FBAA44FF-54DE-45C8-9FAC-512C40277233}" presName="sibTransNodeRect" presStyleLbl="alignNode1" presStyleIdx="1" presStyleCnt="4">
        <dgm:presLayoutVars>
          <dgm:chMax val="0"/>
          <dgm:bulletEnabled val="1"/>
        </dgm:presLayoutVars>
      </dgm:prSet>
      <dgm:spPr/>
    </dgm:pt>
    <dgm:pt modelId="{9F2B2B99-E41C-48B6-9241-186B3896CDB2}" type="pres">
      <dgm:prSet presAssocID="{B2B879BD-3840-400C-92BD-B2C2383358D7}" presName="nodeRect" presStyleLbl="alignNode1" presStyleIdx="1" presStyleCnt="4">
        <dgm:presLayoutVars>
          <dgm:bulletEnabled val="1"/>
        </dgm:presLayoutVars>
      </dgm:prSet>
      <dgm:spPr/>
    </dgm:pt>
    <dgm:pt modelId="{88CC7DDE-DA0F-42A6-8406-A11161BD6BA9}" type="pres">
      <dgm:prSet presAssocID="{FBAA44FF-54DE-45C8-9FAC-512C40277233}" presName="sibTrans" presStyleCnt="0"/>
      <dgm:spPr/>
    </dgm:pt>
    <dgm:pt modelId="{4C550E1C-ACB2-4A5D-BD4A-3D5D60E405E6}" type="pres">
      <dgm:prSet presAssocID="{CA9D674E-4FF1-45DC-82E4-0B2DB6A5363F}" presName="compositeNode" presStyleCnt="0">
        <dgm:presLayoutVars>
          <dgm:bulletEnabled val="1"/>
        </dgm:presLayoutVars>
      </dgm:prSet>
      <dgm:spPr/>
    </dgm:pt>
    <dgm:pt modelId="{0802B4A8-7224-4B0A-95B7-D17AEB2B2AFF}" type="pres">
      <dgm:prSet presAssocID="{CA9D674E-4FF1-45DC-82E4-0B2DB6A5363F}" presName="bgRect" presStyleLbl="alignNode1" presStyleIdx="2" presStyleCnt="4"/>
      <dgm:spPr/>
    </dgm:pt>
    <dgm:pt modelId="{68AC9669-DC11-473A-AA2E-579A44E78C37}" type="pres">
      <dgm:prSet presAssocID="{196DA4DC-9DD2-4A39-8A3A-D367BFE5A8BA}" presName="sibTransNodeRect" presStyleLbl="alignNode1" presStyleIdx="2" presStyleCnt="4">
        <dgm:presLayoutVars>
          <dgm:chMax val="0"/>
          <dgm:bulletEnabled val="1"/>
        </dgm:presLayoutVars>
      </dgm:prSet>
      <dgm:spPr/>
    </dgm:pt>
    <dgm:pt modelId="{D085015A-41AF-4EFA-A104-4FD73B2362F0}" type="pres">
      <dgm:prSet presAssocID="{CA9D674E-4FF1-45DC-82E4-0B2DB6A5363F}" presName="nodeRect" presStyleLbl="alignNode1" presStyleIdx="2" presStyleCnt="4">
        <dgm:presLayoutVars>
          <dgm:bulletEnabled val="1"/>
        </dgm:presLayoutVars>
      </dgm:prSet>
      <dgm:spPr/>
    </dgm:pt>
    <dgm:pt modelId="{0512C5E3-377C-4319-96DB-FEBDE6BD0BA7}" type="pres">
      <dgm:prSet presAssocID="{196DA4DC-9DD2-4A39-8A3A-D367BFE5A8BA}" presName="sibTrans" presStyleCnt="0"/>
      <dgm:spPr/>
    </dgm:pt>
    <dgm:pt modelId="{E6D2CC64-2D4E-4CBB-8B01-6B5C9E6E1445}" type="pres">
      <dgm:prSet presAssocID="{BBD7CE23-7578-46E4-A32B-49C59E5A3210}" presName="compositeNode" presStyleCnt="0">
        <dgm:presLayoutVars>
          <dgm:bulletEnabled val="1"/>
        </dgm:presLayoutVars>
      </dgm:prSet>
      <dgm:spPr/>
    </dgm:pt>
    <dgm:pt modelId="{65ECD3DB-F2CE-4A46-8FCE-B135B8E2F726}" type="pres">
      <dgm:prSet presAssocID="{BBD7CE23-7578-46E4-A32B-49C59E5A3210}" presName="bgRect" presStyleLbl="alignNode1" presStyleIdx="3" presStyleCnt="4"/>
      <dgm:spPr/>
    </dgm:pt>
    <dgm:pt modelId="{2249182C-FD29-44EA-8B6C-589CF19A62C0}" type="pres">
      <dgm:prSet presAssocID="{E442A2ED-106E-444D-899D-894C6D9EC064}" presName="sibTransNodeRect" presStyleLbl="alignNode1" presStyleIdx="3" presStyleCnt="4">
        <dgm:presLayoutVars>
          <dgm:chMax val="0"/>
          <dgm:bulletEnabled val="1"/>
        </dgm:presLayoutVars>
      </dgm:prSet>
      <dgm:spPr/>
    </dgm:pt>
    <dgm:pt modelId="{00C78E9D-7D20-44AB-B798-1963E5E2E7CE}" type="pres">
      <dgm:prSet presAssocID="{BBD7CE23-7578-46E4-A32B-49C59E5A3210}" presName="nodeRect" presStyleLbl="alignNode1" presStyleIdx="3" presStyleCnt="4">
        <dgm:presLayoutVars>
          <dgm:bulletEnabled val="1"/>
        </dgm:presLayoutVars>
      </dgm:prSet>
      <dgm:spPr/>
    </dgm:pt>
  </dgm:ptLst>
  <dgm:cxnLst>
    <dgm:cxn modelId="{0A7DA706-17DD-412A-8BE0-4F6529274E66}" srcId="{15509919-36B5-4162-8899-417A9F93473B}" destId="{AAF9DEE3-8444-4CA1-8BC2-D834D3ED6C74}" srcOrd="0" destOrd="0" parTransId="{205BDF49-153E-4CE8-8402-E23704595764}" sibTransId="{23210C7F-6847-491E-BE1F-A79529AF2B8B}"/>
    <dgm:cxn modelId="{109C0B15-B806-4127-A7EA-6F2FD85C2B5C}" type="presOf" srcId="{AAF9DEE3-8444-4CA1-8BC2-D834D3ED6C74}" destId="{B158057C-23C1-45AE-9273-5935A8F6104B}" srcOrd="1" destOrd="0" presId="urn:microsoft.com/office/officeart/2016/7/layout/LinearBlockProcessNumbered#1"/>
    <dgm:cxn modelId="{284ED317-FBD3-4318-9DC1-43DD0A7A84DA}" type="presOf" srcId="{CA9D674E-4FF1-45DC-82E4-0B2DB6A5363F}" destId="{D085015A-41AF-4EFA-A104-4FD73B2362F0}" srcOrd="1" destOrd="0" presId="urn:microsoft.com/office/officeart/2016/7/layout/LinearBlockProcessNumbered#1"/>
    <dgm:cxn modelId="{28938E20-006F-438A-BC3B-539C09A41AF8}" type="presOf" srcId="{23210C7F-6847-491E-BE1F-A79529AF2B8B}" destId="{15536E38-36FE-4A51-B620-2715BFAD5475}" srcOrd="0" destOrd="0" presId="urn:microsoft.com/office/officeart/2016/7/layout/LinearBlockProcessNumbered#1"/>
    <dgm:cxn modelId="{9519B82E-A537-470B-AA27-A5E33C934F3E}" type="presOf" srcId="{196DA4DC-9DD2-4A39-8A3A-D367BFE5A8BA}" destId="{68AC9669-DC11-473A-AA2E-579A44E78C37}" srcOrd="0" destOrd="0" presId="urn:microsoft.com/office/officeart/2016/7/layout/LinearBlockProcessNumbered#1"/>
    <dgm:cxn modelId="{E774C62E-62A2-478F-B2D4-49AC51F9A4FC}" type="presOf" srcId="{FBAA44FF-54DE-45C8-9FAC-512C40277233}" destId="{379B8CE4-8135-4F2C-A5A0-E55EBE328E9A}" srcOrd="0" destOrd="0" presId="urn:microsoft.com/office/officeart/2016/7/layout/LinearBlockProcessNumbered#1"/>
    <dgm:cxn modelId="{C5BD0B3A-2D82-4EC1-9975-05076C4418DA}" srcId="{15509919-36B5-4162-8899-417A9F93473B}" destId="{CA9D674E-4FF1-45DC-82E4-0B2DB6A5363F}" srcOrd="2" destOrd="0" parTransId="{F1F10F9B-925A-4787-9D00-91106497A02E}" sibTransId="{196DA4DC-9DD2-4A39-8A3A-D367BFE5A8BA}"/>
    <dgm:cxn modelId="{D5EEFB42-8B8C-4DCA-90D0-73E7F923E24D}" type="presOf" srcId="{E442A2ED-106E-444D-899D-894C6D9EC064}" destId="{2249182C-FD29-44EA-8B6C-589CF19A62C0}" srcOrd="0" destOrd="0" presId="urn:microsoft.com/office/officeart/2016/7/layout/LinearBlockProcessNumbered#1"/>
    <dgm:cxn modelId="{6E5EF465-680F-4962-87CA-2B44BA61BBF3}" type="presOf" srcId="{AAF9DEE3-8444-4CA1-8BC2-D834D3ED6C74}" destId="{F4992080-7D4E-4F2B-B608-170DDBB6006A}" srcOrd="0" destOrd="0" presId="urn:microsoft.com/office/officeart/2016/7/layout/LinearBlockProcessNumbered#1"/>
    <dgm:cxn modelId="{6E9CB969-3124-4B5D-A054-B6FFECA34639}" type="presOf" srcId="{BBD7CE23-7578-46E4-A32B-49C59E5A3210}" destId="{00C78E9D-7D20-44AB-B798-1963E5E2E7CE}" srcOrd="1" destOrd="0" presId="urn:microsoft.com/office/officeart/2016/7/layout/LinearBlockProcessNumbered#1"/>
    <dgm:cxn modelId="{BE05FF76-48E4-476C-9495-A13A63321F9B}" type="presOf" srcId="{B2B879BD-3840-400C-92BD-B2C2383358D7}" destId="{89A9B4CF-6439-46B1-B6A9-1D6CD5034774}" srcOrd="0" destOrd="0" presId="urn:microsoft.com/office/officeart/2016/7/layout/LinearBlockProcessNumbered#1"/>
    <dgm:cxn modelId="{AEC6D081-73F8-41AD-9101-B43295B68E14}" type="presOf" srcId="{CA9D674E-4FF1-45DC-82E4-0B2DB6A5363F}" destId="{0802B4A8-7224-4B0A-95B7-D17AEB2B2AFF}" srcOrd="0" destOrd="0" presId="urn:microsoft.com/office/officeart/2016/7/layout/LinearBlockProcessNumbered#1"/>
    <dgm:cxn modelId="{7DEDC883-6B24-4BD5-A779-25B0FC048F3D}" type="presOf" srcId="{BBD7CE23-7578-46E4-A32B-49C59E5A3210}" destId="{65ECD3DB-F2CE-4A46-8FCE-B135B8E2F726}" srcOrd="0" destOrd="0" presId="urn:microsoft.com/office/officeart/2016/7/layout/LinearBlockProcessNumbered#1"/>
    <dgm:cxn modelId="{B10D25B9-6B06-48FB-9A62-C3EA052BDA8D}" srcId="{15509919-36B5-4162-8899-417A9F93473B}" destId="{BBD7CE23-7578-46E4-A32B-49C59E5A3210}" srcOrd="3" destOrd="0" parTransId="{6B895962-D19C-4409-8F0F-0F66FD54659D}" sibTransId="{E442A2ED-106E-444D-899D-894C6D9EC064}"/>
    <dgm:cxn modelId="{840BB0C7-181A-4BA4-9324-C35937B4BA77}" type="presOf" srcId="{15509919-36B5-4162-8899-417A9F93473B}" destId="{09F899AB-70CA-46DA-8F8C-58514A9FEF67}" srcOrd="0" destOrd="0" presId="urn:microsoft.com/office/officeart/2016/7/layout/LinearBlockProcessNumbered#1"/>
    <dgm:cxn modelId="{42CDCACA-F394-4044-BBF6-522A0005ABCB}" srcId="{15509919-36B5-4162-8899-417A9F93473B}" destId="{B2B879BD-3840-400C-92BD-B2C2383358D7}" srcOrd="1" destOrd="0" parTransId="{09440D86-F3E6-4A3C-9E78-1AFC56348641}" sibTransId="{FBAA44FF-54DE-45C8-9FAC-512C40277233}"/>
    <dgm:cxn modelId="{6AB3E3E3-CAC3-4821-AAD0-21289FC8AF3F}" type="presOf" srcId="{B2B879BD-3840-400C-92BD-B2C2383358D7}" destId="{9F2B2B99-E41C-48B6-9241-186B3896CDB2}" srcOrd="1" destOrd="0" presId="urn:microsoft.com/office/officeart/2016/7/layout/LinearBlockProcessNumbered#1"/>
    <dgm:cxn modelId="{90D3E440-E32E-4616-A794-C357B58C725C}" type="presParOf" srcId="{09F899AB-70CA-46DA-8F8C-58514A9FEF67}" destId="{9E708B2C-9056-43B8-820C-8D4D2D591614}" srcOrd="0" destOrd="0" presId="urn:microsoft.com/office/officeart/2016/7/layout/LinearBlockProcessNumbered#1"/>
    <dgm:cxn modelId="{94905F72-0547-4876-85BD-1CE201853F0E}" type="presParOf" srcId="{9E708B2C-9056-43B8-820C-8D4D2D591614}" destId="{F4992080-7D4E-4F2B-B608-170DDBB6006A}" srcOrd="0" destOrd="0" presId="urn:microsoft.com/office/officeart/2016/7/layout/LinearBlockProcessNumbered#1"/>
    <dgm:cxn modelId="{32F232D9-C82F-455D-A4CB-8A6F950974CB}" type="presParOf" srcId="{9E708B2C-9056-43B8-820C-8D4D2D591614}" destId="{15536E38-36FE-4A51-B620-2715BFAD5475}" srcOrd="1" destOrd="0" presId="urn:microsoft.com/office/officeart/2016/7/layout/LinearBlockProcessNumbered#1"/>
    <dgm:cxn modelId="{E1630E94-0972-452E-A256-8FE168492E2F}" type="presParOf" srcId="{9E708B2C-9056-43B8-820C-8D4D2D591614}" destId="{B158057C-23C1-45AE-9273-5935A8F6104B}" srcOrd="2" destOrd="0" presId="urn:microsoft.com/office/officeart/2016/7/layout/LinearBlockProcessNumbered#1"/>
    <dgm:cxn modelId="{3D53040A-6114-439D-91AE-A92823686B42}" type="presParOf" srcId="{09F899AB-70CA-46DA-8F8C-58514A9FEF67}" destId="{5D52B8B6-958E-480C-9455-911A104C8C73}" srcOrd="1" destOrd="0" presId="urn:microsoft.com/office/officeart/2016/7/layout/LinearBlockProcessNumbered#1"/>
    <dgm:cxn modelId="{71CD1E60-9941-432A-AAD3-6BEE9759C7CA}" type="presParOf" srcId="{09F899AB-70CA-46DA-8F8C-58514A9FEF67}" destId="{070CFBFA-AE62-406D-B2E3-4A871FE3EC95}" srcOrd="2" destOrd="0" presId="urn:microsoft.com/office/officeart/2016/7/layout/LinearBlockProcessNumbered#1"/>
    <dgm:cxn modelId="{E24E5F24-B05D-485A-B1E3-F029361EAC2F}" type="presParOf" srcId="{070CFBFA-AE62-406D-B2E3-4A871FE3EC95}" destId="{89A9B4CF-6439-46B1-B6A9-1D6CD5034774}" srcOrd="0" destOrd="0" presId="urn:microsoft.com/office/officeart/2016/7/layout/LinearBlockProcessNumbered#1"/>
    <dgm:cxn modelId="{B1A2A29E-FBA6-4188-BE73-D4752962B995}" type="presParOf" srcId="{070CFBFA-AE62-406D-B2E3-4A871FE3EC95}" destId="{379B8CE4-8135-4F2C-A5A0-E55EBE328E9A}" srcOrd="1" destOrd="0" presId="urn:microsoft.com/office/officeart/2016/7/layout/LinearBlockProcessNumbered#1"/>
    <dgm:cxn modelId="{F07F5881-E747-4C57-B3A8-80D81CA9E653}" type="presParOf" srcId="{070CFBFA-AE62-406D-B2E3-4A871FE3EC95}" destId="{9F2B2B99-E41C-48B6-9241-186B3896CDB2}" srcOrd="2" destOrd="0" presId="urn:microsoft.com/office/officeart/2016/7/layout/LinearBlockProcessNumbered#1"/>
    <dgm:cxn modelId="{CFE97617-C516-4DC5-9F9C-80DAA0EDE08F}" type="presParOf" srcId="{09F899AB-70CA-46DA-8F8C-58514A9FEF67}" destId="{88CC7DDE-DA0F-42A6-8406-A11161BD6BA9}" srcOrd="3" destOrd="0" presId="urn:microsoft.com/office/officeart/2016/7/layout/LinearBlockProcessNumbered#1"/>
    <dgm:cxn modelId="{B7A23FED-2302-47D8-8E80-C7B4D99F0301}" type="presParOf" srcId="{09F899AB-70CA-46DA-8F8C-58514A9FEF67}" destId="{4C550E1C-ACB2-4A5D-BD4A-3D5D60E405E6}" srcOrd="4" destOrd="0" presId="urn:microsoft.com/office/officeart/2016/7/layout/LinearBlockProcessNumbered#1"/>
    <dgm:cxn modelId="{B9E766C8-B1F9-4299-93D9-C5605EEE5998}" type="presParOf" srcId="{4C550E1C-ACB2-4A5D-BD4A-3D5D60E405E6}" destId="{0802B4A8-7224-4B0A-95B7-D17AEB2B2AFF}" srcOrd="0" destOrd="0" presId="urn:microsoft.com/office/officeart/2016/7/layout/LinearBlockProcessNumbered#1"/>
    <dgm:cxn modelId="{DDDBCEBE-059F-40AD-A1D1-8D888A5BCC15}" type="presParOf" srcId="{4C550E1C-ACB2-4A5D-BD4A-3D5D60E405E6}" destId="{68AC9669-DC11-473A-AA2E-579A44E78C37}" srcOrd="1" destOrd="0" presId="urn:microsoft.com/office/officeart/2016/7/layout/LinearBlockProcessNumbered#1"/>
    <dgm:cxn modelId="{90FC101C-CCF0-411F-ABB9-797553DF6D08}" type="presParOf" srcId="{4C550E1C-ACB2-4A5D-BD4A-3D5D60E405E6}" destId="{D085015A-41AF-4EFA-A104-4FD73B2362F0}" srcOrd="2" destOrd="0" presId="urn:microsoft.com/office/officeart/2016/7/layout/LinearBlockProcessNumbered#1"/>
    <dgm:cxn modelId="{45BEFEBF-019C-4696-9BFC-1F3E33FF0DA1}" type="presParOf" srcId="{09F899AB-70CA-46DA-8F8C-58514A9FEF67}" destId="{0512C5E3-377C-4319-96DB-FEBDE6BD0BA7}" srcOrd="5" destOrd="0" presId="urn:microsoft.com/office/officeart/2016/7/layout/LinearBlockProcessNumbered#1"/>
    <dgm:cxn modelId="{5CF2624C-BAD5-44E5-BDC0-09B765AF60D2}" type="presParOf" srcId="{09F899AB-70CA-46DA-8F8C-58514A9FEF67}" destId="{E6D2CC64-2D4E-4CBB-8B01-6B5C9E6E1445}" srcOrd="6" destOrd="0" presId="urn:microsoft.com/office/officeart/2016/7/layout/LinearBlockProcessNumbered#1"/>
    <dgm:cxn modelId="{39D4A999-A982-4AEB-8811-71E6217F84E6}" type="presParOf" srcId="{E6D2CC64-2D4E-4CBB-8B01-6B5C9E6E1445}" destId="{65ECD3DB-F2CE-4A46-8FCE-B135B8E2F726}" srcOrd="0" destOrd="0" presId="urn:microsoft.com/office/officeart/2016/7/layout/LinearBlockProcessNumbered#1"/>
    <dgm:cxn modelId="{BC5816FF-82D2-4F11-AC7C-6A66544B810B}" type="presParOf" srcId="{E6D2CC64-2D4E-4CBB-8B01-6B5C9E6E1445}" destId="{2249182C-FD29-44EA-8B6C-589CF19A62C0}" srcOrd="1" destOrd="0" presId="urn:microsoft.com/office/officeart/2016/7/layout/LinearBlockProcessNumbered#1"/>
    <dgm:cxn modelId="{006A0544-DABD-4F74-B4CC-7465B997A114}" type="presParOf" srcId="{E6D2CC64-2D4E-4CBB-8B01-6B5C9E6E1445}" destId="{00C78E9D-7D20-44AB-B798-1963E5E2E7CE}" srcOrd="2" destOrd="0" presId="urn:microsoft.com/office/officeart/2016/7/layout/LinearBlockProcessNumbere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8D6ED0-F2E2-48E7-A9B1-A0BB5999FDE3}" type="doc">
      <dgm:prSet loTypeId="urn:microsoft.com/office/officeart/2005/8/layout/default" loCatId="list" qsTypeId="urn:microsoft.com/office/officeart/2005/8/quickstyle/simple1" qsCatId="simple" csTypeId="urn:microsoft.com/office/officeart/2005/8/colors/accent0_1" csCatId="mainScheme" phldr="1"/>
      <dgm:spPr/>
      <dgm:t>
        <a:bodyPr/>
        <a:lstStyle/>
        <a:p>
          <a:endParaRPr lang="en-US"/>
        </a:p>
      </dgm:t>
    </dgm:pt>
    <dgm:pt modelId="{B2D6BB7E-BEB2-4532-83D7-157F13F810A7}">
      <dgm:prSet phldrT="[Text]" phldr="0"/>
      <dgm:spPr/>
      <dgm:t>
        <a:bodyPr/>
        <a:lstStyle/>
        <a:p>
          <a:r>
            <a:rPr lang="en-US" dirty="0"/>
            <a:t>Total number of claims</a:t>
          </a:r>
        </a:p>
      </dgm:t>
    </dgm:pt>
    <dgm:pt modelId="{37888C50-9974-49F5-B4D5-014860A9D28B}" type="parTrans" cxnId="{C59E789B-D457-4C16-8496-8E1196DABA25}">
      <dgm:prSet/>
      <dgm:spPr/>
      <dgm:t>
        <a:bodyPr/>
        <a:lstStyle/>
        <a:p>
          <a:endParaRPr lang="en-US"/>
        </a:p>
      </dgm:t>
    </dgm:pt>
    <dgm:pt modelId="{03E061F1-FDB0-42FD-BAE3-9D6F2E8F7EBC}" type="sibTrans" cxnId="{C59E789B-D457-4C16-8496-8E1196DABA25}">
      <dgm:prSet/>
      <dgm:spPr/>
      <dgm:t>
        <a:bodyPr/>
        <a:lstStyle/>
        <a:p>
          <a:endParaRPr lang="en-US"/>
        </a:p>
      </dgm:t>
    </dgm:pt>
    <dgm:pt modelId="{15E54FAE-7F4B-403A-BB40-EF94BAEEE1AD}">
      <dgm:prSet phldrT="[Text]" phldr="0"/>
      <dgm:spPr/>
      <dgm:t>
        <a:bodyPr/>
        <a:lstStyle/>
        <a:p>
          <a:r>
            <a:rPr lang="en-US" dirty="0"/>
            <a:t>Total reimbursed amount</a:t>
          </a:r>
        </a:p>
      </dgm:t>
    </dgm:pt>
    <dgm:pt modelId="{FCC088E0-4C8A-4737-82F9-C75B8D277104}" type="parTrans" cxnId="{4D5BE4EE-7519-4D74-95F8-08FE8DD5BB53}">
      <dgm:prSet/>
      <dgm:spPr/>
      <dgm:t>
        <a:bodyPr/>
        <a:lstStyle/>
        <a:p>
          <a:endParaRPr lang="en-US"/>
        </a:p>
      </dgm:t>
    </dgm:pt>
    <dgm:pt modelId="{825A0A85-0690-4CCA-AF6D-D44E9AE19F04}" type="sibTrans" cxnId="{4D5BE4EE-7519-4D74-95F8-08FE8DD5BB53}">
      <dgm:prSet/>
      <dgm:spPr/>
      <dgm:t>
        <a:bodyPr/>
        <a:lstStyle/>
        <a:p>
          <a:endParaRPr lang="en-US"/>
        </a:p>
      </dgm:t>
    </dgm:pt>
    <dgm:pt modelId="{2ED6DDA1-D611-446A-B529-C1916D1FD2A0}">
      <dgm:prSet phldrT="[Text]" phldr="0"/>
      <dgm:spPr/>
      <dgm:t>
        <a:bodyPr/>
        <a:lstStyle/>
        <a:p>
          <a:r>
            <a:rPr lang="en-US" dirty="0"/>
            <a:t>Average reimbursement per claim</a:t>
          </a:r>
        </a:p>
      </dgm:t>
    </dgm:pt>
    <dgm:pt modelId="{A8511210-A590-4726-95A8-824F4316BEC2}" type="parTrans" cxnId="{4C922A28-7D3C-485B-B87A-38A068A491FD}">
      <dgm:prSet/>
      <dgm:spPr/>
      <dgm:t>
        <a:bodyPr/>
        <a:lstStyle/>
        <a:p>
          <a:endParaRPr lang="en-US"/>
        </a:p>
      </dgm:t>
    </dgm:pt>
    <dgm:pt modelId="{15388BC7-DC13-4A07-AAF3-14394CEEE3DB}" type="sibTrans" cxnId="{4C922A28-7D3C-485B-B87A-38A068A491FD}">
      <dgm:prSet/>
      <dgm:spPr/>
      <dgm:t>
        <a:bodyPr/>
        <a:lstStyle/>
        <a:p>
          <a:endParaRPr lang="en-US"/>
        </a:p>
      </dgm:t>
    </dgm:pt>
    <dgm:pt modelId="{98167550-9114-447A-AE37-C936446618C2}">
      <dgm:prSet phldrT="[Text]" phldr="0"/>
      <dgm:spPr/>
      <dgm:t>
        <a:bodyPr/>
        <a:lstStyle/>
        <a:p>
          <a:r>
            <a:rPr lang="en-US" dirty="0"/>
            <a:t>Number of unique beneficiaries</a:t>
          </a:r>
        </a:p>
      </dgm:t>
    </dgm:pt>
    <dgm:pt modelId="{B2701F23-660C-4E5F-8686-A2458E618D68}" type="parTrans" cxnId="{E7B1EF9F-BBF3-46C6-A2FA-C19AAEFB2572}">
      <dgm:prSet/>
      <dgm:spPr/>
      <dgm:t>
        <a:bodyPr/>
        <a:lstStyle/>
        <a:p>
          <a:endParaRPr lang="en-US"/>
        </a:p>
      </dgm:t>
    </dgm:pt>
    <dgm:pt modelId="{9EFBB7F8-3D26-4D69-A026-FC247AD98651}" type="sibTrans" cxnId="{E7B1EF9F-BBF3-46C6-A2FA-C19AAEFB2572}">
      <dgm:prSet/>
      <dgm:spPr/>
      <dgm:t>
        <a:bodyPr/>
        <a:lstStyle/>
        <a:p>
          <a:endParaRPr lang="en-US"/>
        </a:p>
      </dgm:t>
    </dgm:pt>
    <dgm:pt modelId="{26C0A149-836D-49D3-BBED-4D5975BA47FB}">
      <dgm:prSet phldrT="[Text]" phldr="0"/>
      <dgm:spPr/>
      <dgm:t>
        <a:bodyPr/>
        <a:lstStyle/>
        <a:p>
          <a:r>
            <a:rPr lang="en-US" dirty="0"/>
            <a:t>Average beneficiary age</a:t>
          </a:r>
        </a:p>
      </dgm:t>
    </dgm:pt>
    <dgm:pt modelId="{665AE32B-9E35-4DEC-BBAB-E4C36B06C21A}" type="parTrans" cxnId="{2978105B-485F-4455-997D-6A0B0ED0E740}">
      <dgm:prSet/>
      <dgm:spPr/>
      <dgm:t>
        <a:bodyPr/>
        <a:lstStyle/>
        <a:p>
          <a:endParaRPr lang="en-US"/>
        </a:p>
      </dgm:t>
    </dgm:pt>
    <dgm:pt modelId="{53C4B71B-9964-4AA3-82A5-E053DECD89F3}" type="sibTrans" cxnId="{2978105B-485F-4455-997D-6A0B0ED0E740}">
      <dgm:prSet/>
      <dgm:spPr/>
      <dgm:t>
        <a:bodyPr/>
        <a:lstStyle/>
        <a:p>
          <a:endParaRPr lang="en-US"/>
        </a:p>
      </dgm:t>
    </dgm:pt>
    <dgm:pt modelId="{5EF42397-7735-43F9-B912-992D2FBDB0B4}">
      <dgm:prSet/>
      <dgm:spPr/>
      <dgm:t>
        <a:bodyPr/>
        <a:lstStyle/>
        <a:p>
          <a:r>
            <a:rPr lang="en-US" dirty="0"/>
            <a:t>Counts of chronic conditions</a:t>
          </a:r>
        </a:p>
      </dgm:t>
    </dgm:pt>
    <dgm:pt modelId="{7547FDCB-B730-4FB0-B20F-C5246A86F21A}" type="parTrans" cxnId="{3CD9C2E0-8517-4CBC-8084-1C6348ACCC6E}">
      <dgm:prSet/>
      <dgm:spPr/>
      <dgm:t>
        <a:bodyPr/>
        <a:lstStyle/>
        <a:p>
          <a:endParaRPr lang="en-US"/>
        </a:p>
      </dgm:t>
    </dgm:pt>
    <dgm:pt modelId="{F327B890-0B9E-4B22-9F93-3D05EB6E6704}" type="sibTrans" cxnId="{3CD9C2E0-8517-4CBC-8084-1C6348ACCC6E}">
      <dgm:prSet/>
      <dgm:spPr/>
      <dgm:t>
        <a:bodyPr/>
        <a:lstStyle/>
        <a:p>
          <a:endParaRPr lang="en-US"/>
        </a:p>
      </dgm:t>
    </dgm:pt>
    <dgm:pt modelId="{ECB17F03-1A07-43CE-A3E5-80F0483E3650}">
      <dgm:prSet/>
      <dgm:spPr/>
      <dgm:t>
        <a:bodyPr/>
        <a:lstStyle/>
        <a:p>
          <a:r>
            <a:rPr lang="en-US" dirty="0"/>
            <a:t>Inpatient vs outpatient ratios</a:t>
          </a:r>
        </a:p>
      </dgm:t>
    </dgm:pt>
    <dgm:pt modelId="{26AE8C02-D892-4D35-8BAE-9769C89A7C21}" type="parTrans" cxnId="{7E7DF7EE-FEFE-4499-B382-653EC724F603}">
      <dgm:prSet/>
      <dgm:spPr/>
      <dgm:t>
        <a:bodyPr/>
        <a:lstStyle/>
        <a:p>
          <a:endParaRPr lang="en-US"/>
        </a:p>
      </dgm:t>
    </dgm:pt>
    <dgm:pt modelId="{8BA89458-B65F-4554-A389-A70F836990D4}" type="sibTrans" cxnId="{7E7DF7EE-FEFE-4499-B382-653EC724F603}">
      <dgm:prSet/>
      <dgm:spPr/>
      <dgm:t>
        <a:bodyPr/>
        <a:lstStyle/>
        <a:p>
          <a:endParaRPr lang="en-US"/>
        </a:p>
      </dgm:t>
    </dgm:pt>
    <dgm:pt modelId="{D493497A-F2BB-4A1B-9796-DD950821C820}" type="pres">
      <dgm:prSet presAssocID="{4E8D6ED0-F2E2-48E7-A9B1-A0BB5999FDE3}" presName="diagram" presStyleCnt="0">
        <dgm:presLayoutVars>
          <dgm:dir/>
          <dgm:resizeHandles val="exact"/>
        </dgm:presLayoutVars>
      </dgm:prSet>
      <dgm:spPr/>
    </dgm:pt>
    <dgm:pt modelId="{C1204182-4492-49DF-9447-79517A45D199}" type="pres">
      <dgm:prSet presAssocID="{B2D6BB7E-BEB2-4532-83D7-157F13F810A7}" presName="node" presStyleLbl="node1" presStyleIdx="0" presStyleCnt="7">
        <dgm:presLayoutVars>
          <dgm:bulletEnabled val="1"/>
        </dgm:presLayoutVars>
      </dgm:prSet>
      <dgm:spPr/>
    </dgm:pt>
    <dgm:pt modelId="{A1330E5D-88F8-4756-972C-414B7563E06C}" type="pres">
      <dgm:prSet presAssocID="{03E061F1-FDB0-42FD-BAE3-9D6F2E8F7EBC}" presName="sibTrans" presStyleCnt="0"/>
      <dgm:spPr/>
    </dgm:pt>
    <dgm:pt modelId="{2C5DC5AE-A3D0-4BDF-924D-3DE6C60B8CF4}" type="pres">
      <dgm:prSet presAssocID="{15E54FAE-7F4B-403A-BB40-EF94BAEEE1AD}" presName="node" presStyleLbl="node1" presStyleIdx="1" presStyleCnt="7">
        <dgm:presLayoutVars>
          <dgm:bulletEnabled val="1"/>
        </dgm:presLayoutVars>
      </dgm:prSet>
      <dgm:spPr/>
    </dgm:pt>
    <dgm:pt modelId="{938850FB-525E-4ECC-984E-1D8D5B2B01A0}" type="pres">
      <dgm:prSet presAssocID="{825A0A85-0690-4CCA-AF6D-D44E9AE19F04}" presName="sibTrans" presStyleCnt="0"/>
      <dgm:spPr/>
    </dgm:pt>
    <dgm:pt modelId="{6A010E9A-312D-4E7E-94F4-6C703748153B}" type="pres">
      <dgm:prSet presAssocID="{2ED6DDA1-D611-446A-B529-C1916D1FD2A0}" presName="node" presStyleLbl="node1" presStyleIdx="2" presStyleCnt="7">
        <dgm:presLayoutVars>
          <dgm:bulletEnabled val="1"/>
        </dgm:presLayoutVars>
      </dgm:prSet>
      <dgm:spPr/>
    </dgm:pt>
    <dgm:pt modelId="{21FF17BD-42BF-40A1-A3A6-B7EC83BC5796}" type="pres">
      <dgm:prSet presAssocID="{15388BC7-DC13-4A07-AAF3-14394CEEE3DB}" presName="sibTrans" presStyleCnt="0"/>
      <dgm:spPr/>
    </dgm:pt>
    <dgm:pt modelId="{89EA67B0-B48A-4351-80FC-41F387AA523D}" type="pres">
      <dgm:prSet presAssocID="{98167550-9114-447A-AE37-C936446618C2}" presName="node" presStyleLbl="node1" presStyleIdx="3" presStyleCnt="7">
        <dgm:presLayoutVars>
          <dgm:bulletEnabled val="1"/>
        </dgm:presLayoutVars>
      </dgm:prSet>
      <dgm:spPr/>
    </dgm:pt>
    <dgm:pt modelId="{B325BFB8-C4D0-4F13-9A9B-3F3DADE36400}" type="pres">
      <dgm:prSet presAssocID="{9EFBB7F8-3D26-4D69-A026-FC247AD98651}" presName="sibTrans" presStyleCnt="0"/>
      <dgm:spPr/>
    </dgm:pt>
    <dgm:pt modelId="{81010FFA-3DA9-44DB-AB3A-3B6E96DA2A2B}" type="pres">
      <dgm:prSet presAssocID="{26C0A149-836D-49D3-BBED-4D5975BA47FB}" presName="node" presStyleLbl="node1" presStyleIdx="4" presStyleCnt="7">
        <dgm:presLayoutVars>
          <dgm:bulletEnabled val="1"/>
        </dgm:presLayoutVars>
      </dgm:prSet>
      <dgm:spPr/>
    </dgm:pt>
    <dgm:pt modelId="{6F5294E2-6527-4ECD-A341-B1F79EEA6313}" type="pres">
      <dgm:prSet presAssocID="{53C4B71B-9964-4AA3-82A5-E053DECD89F3}" presName="sibTrans" presStyleCnt="0"/>
      <dgm:spPr/>
    </dgm:pt>
    <dgm:pt modelId="{734AF9A7-6109-42FB-8697-EDF58E459E87}" type="pres">
      <dgm:prSet presAssocID="{5EF42397-7735-43F9-B912-992D2FBDB0B4}" presName="node" presStyleLbl="node1" presStyleIdx="5" presStyleCnt="7">
        <dgm:presLayoutVars>
          <dgm:bulletEnabled val="1"/>
        </dgm:presLayoutVars>
      </dgm:prSet>
      <dgm:spPr/>
    </dgm:pt>
    <dgm:pt modelId="{145CD567-35AF-461E-8C2C-DC5E3B3EE75A}" type="pres">
      <dgm:prSet presAssocID="{F327B890-0B9E-4B22-9F93-3D05EB6E6704}" presName="sibTrans" presStyleCnt="0"/>
      <dgm:spPr/>
    </dgm:pt>
    <dgm:pt modelId="{22CAF289-0FE3-429C-B627-D2B9C2F7FFEE}" type="pres">
      <dgm:prSet presAssocID="{ECB17F03-1A07-43CE-A3E5-80F0483E3650}" presName="node" presStyleLbl="node1" presStyleIdx="6" presStyleCnt="7">
        <dgm:presLayoutVars>
          <dgm:bulletEnabled val="1"/>
        </dgm:presLayoutVars>
      </dgm:prSet>
      <dgm:spPr/>
    </dgm:pt>
  </dgm:ptLst>
  <dgm:cxnLst>
    <dgm:cxn modelId="{11913807-5F6C-43DB-B3AE-5E4BC04468E7}" type="presOf" srcId="{B2D6BB7E-BEB2-4532-83D7-157F13F810A7}" destId="{C1204182-4492-49DF-9447-79517A45D199}" srcOrd="0" destOrd="0" presId="urn:microsoft.com/office/officeart/2005/8/layout/default"/>
    <dgm:cxn modelId="{49FEEE17-5D94-45E6-BFA4-F6C630FDE1DC}" type="presOf" srcId="{ECB17F03-1A07-43CE-A3E5-80F0483E3650}" destId="{22CAF289-0FE3-429C-B627-D2B9C2F7FFEE}" srcOrd="0" destOrd="0" presId="urn:microsoft.com/office/officeart/2005/8/layout/default"/>
    <dgm:cxn modelId="{50461E1A-55BC-44EA-B453-CAE9FA343087}" type="presOf" srcId="{98167550-9114-447A-AE37-C936446618C2}" destId="{89EA67B0-B48A-4351-80FC-41F387AA523D}" srcOrd="0" destOrd="0" presId="urn:microsoft.com/office/officeart/2005/8/layout/default"/>
    <dgm:cxn modelId="{4C922A28-7D3C-485B-B87A-38A068A491FD}" srcId="{4E8D6ED0-F2E2-48E7-A9B1-A0BB5999FDE3}" destId="{2ED6DDA1-D611-446A-B529-C1916D1FD2A0}" srcOrd="2" destOrd="0" parTransId="{A8511210-A590-4726-95A8-824F4316BEC2}" sibTransId="{15388BC7-DC13-4A07-AAF3-14394CEEE3DB}"/>
    <dgm:cxn modelId="{2978105B-485F-4455-997D-6A0B0ED0E740}" srcId="{4E8D6ED0-F2E2-48E7-A9B1-A0BB5999FDE3}" destId="{26C0A149-836D-49D3-BBED-4D5975BA47FB}" srcOrd="4" destOrd="0" parTransId="{665AE32B-9E35-4DEC-BBAB-E4C36B06C21A}" sibTransId="{53C4B71B-9964-4AA3-82A5-E053DECD89F3}"/>
    <dgm:cxn modelId="{32B8A246-9BA2-4A8B-B873-539DA797860C}" type="presOf" srcId="{26C0A149-836D-49D3-BBED-4D5975BA47FB}" destId="{81010FFA-3DA9-44DB-AB3A-3B6E96DA2A2B}" srcOrd="0" destOrd="0" presId="urn:microsoft.com/office/officeart/2005/8/layout/default"/>
    <dgm:cxn modelId="{8A5ED26D-54F9-4D4E-B8EB-6B9C0A05D3DE}" type="presOf" srcId="{2ED6DDA1-D611-446A-B529-C1916D1FD2A0}" destId="{6A010E9A-312D-4E7E-94F4-6C703748153B}" srcOrd="0" destOrd="0" presId="urn:microsoft.com/office/officeart/2005/8/layout/default"/>
    <dgm:cxn modelId="{C59E789B-D457-4C16-8496-8E1196DABA25}" srcId="{4E8D6ED0-F2E2-48E7-A9B1-A0BB5999FDE3}" destId="{B2D6BB7E-BEB2-4532-83D7-157F13F810A7}" srcOrd="0" destOrd="0" parTransId="{37888C50-9974-49F5-B4D5-014860A9D28B}" sibTransId="{03E061F1-FDB0-42FD-BAE3-9D6F2E8F7EBC}"/>
    <dgm:cxn modelId="{E7B1EF9F-BBF3-46C6-A2FA-C19AAEFB2572}" srcId="{4E8D6ED0-F2E2-48E7-A9B1-A0BB5999FDE3}" destId="{98167550-9114-447A-AE37-C936446618C2}" srcOrd="3" destOrd="0" parTransId="{B2701F23-660C-4E5F-8686-A2458E618D68}" sibTransId="{9EFBB7F8-3D26-4D69-A026-FC247AD98651}"/>
    <dgm:cxn modelId="{850469C8-158C-44B1-A3C9-5A1F66364369}" type="presOf" srcId="{5EF42397-7735-43F9-B912-992D2FBDB0B4}" destId="{734AF9A7-6109-42FB-8697-EDF58E459E87}" srcOrd="0" destOrd="0" presId="urn:microsoft.com/office/officeart/2005/8/layout/default"/>
    <dgm:cxn modelId="{987E78D5-B97C-4817-B621-2922C8F70C2C}" type="presOf" srcId="{4E8D6ED0-F2E2-48E7-A9B1-A0BB5999FDE3}" destId="{D493497A-F2BB-4A1B-9796-DD950821C820}" srcOrd="0" destOrd="0" presId="urn:microsoft.com/office/officeart/2005/8/layout/default"/>
    <dgm:cxn modelId="{3CD9C2E0-8517-4CBC-8084-1C6348ACCC6E}" srcId="{4E8D6ED0-F2E2-48E7-A9B1-A0BB5999FDE3}" destId="{5EF42397-7735-43F9-B912-992D2FBDB0B4}" srcOrd="5" destOrd="0" parTransId="{7547FDCB-B730-4FB0-B20F-C5246A86F21A}" sibTransId="{F327B890-0B9E-4B22-9F93-3D05EB6E6704}"/>
    <dgm:cxn modelId="{4D5BE4EE-7519-4D74-95F8-08FE8DD5BB53}" srcId="{4E8D6ED0-F2E2-48E7-A9B1-A0BB5999FDE3}" destId="{15E54FAE-7F4B-403A-BB40-EF94BAEEE1AD}" srcOrd="1" destOrd="0" parTransId="{FCC088E0-4C8A-4737-82F9-C75B8D277104}" sibTransId="{825A0A85-0690-4CCA-AF6D-D44E9AE19F04}"/>
    <dgm:cxn modelId="{7E7DF7EE-FEFE-4499-B382-653EC724F603}" srcId="{4E8D6ED0-F2E2-48E7-A9B1-A0BB5999FDE3}" destId="{ECB17F03-1A07-43CE-A3E5-80F0483E3650}" srcOrd="6" destOrd="0" parTransId="{26AE8C02-D892-4D35-8BAE-9769C89A7C21}" sibTransId="{8BA89458-B65F-4554-A389-A70F836990D4}"/>
    <dgm:cxn modelId="{2DEAB2F1-C987-424F-9BB3-5D07CA21D0E8}" type="presOf" srcId="{15E54FAE-7F4B-403A-BB40-EF94BAEEE1AD}" destId="{2C5DC5AE-A3D0-4BDF-924D-3DE6C60B8CF4}" srcOrd="0" destOrd="0" presId="urn:microsoft.com/office/officeart/2005/8/layout/default"/>
    <dgm:cxn modelId="{18A96B36-1120-4B14-AC83-A9881BC4445B}" type="presParOf" srcId="{D493497A-F2BB-4A1B-9796-DD950821C820}" destId="{C1204182-4492-49DF-9447-79517A45D199}" srcOrd="0" destOrd="0" presId="urn:microsoft.com/office/officeart/2005/8/layout/default"/>
    <dgm:cxn modelId="{2B6DFCD5-E516-4A01-B581-E746C4183603}" type="presParOf" srcId="{D493497A-F2BB-4A1B-9796-DD950821C820}" destId="{A1330E5D-88F8-4756-972C-414B7563E06C}" srcOrd="1" destOrd="0" presId="urn:microsoft.com/office/officeart/2005/8/layout/default"/>
    <dgm:cxn modelId="{04B6047B-4082-4072-AB79-F879CEAA4973}" type="presParOf" srcId="{D493497A-F2BB-4A1B-9796-DD950821C820}" destId="{2C5DC5AE-A3D0-4BDF-924D-3DE6C60B8CF4}" srcOrd="2" destOrd="0" presId="urn:microsoft.com/office/officeart/2005/8/layout/default"/>
    <dgm:cxn modelId="{59D026BB-4A05-49F7-AA55-498D87537621}" type="presParOf" srcId="{D493497A-F2BB-4A1B-9796-DD950821C820}" destId="{938850FB-525E-4ECC-984E-1D8D5B2B01A0}" srcOrd="3" destOrd="0" presId="urn:microsoft.com/office/officeart/2005/8/layout/default"/>
    <dgm:cxn modelId="{C9244C50-FA0B-4DE0-A0F6-47BD97242DE8}" type="presParOf" srcId="{D493497A-F2BB-4A1B-9796-DD950821C820}" destId="{6A010E9A-312D-4E7E-94F4-6C703748153B}" srcOrd="4" destOrd="0" presId="urn:microsoft.com/office/officeart/2005/8/layout/default"/>
    <dgm:cxn modelId="{36F0464B-2EC6-4213-A70F-5A2C585A960C}" type="presParOf" srcId="{D493497A-F2BB-4A1B-9796-DD950821C820}" destId="{21FF17BD-42BF-40A1-A3A6-B7EC83BC5796}" srcOrd="5" destOrd="0" presId="urn:microsoft.com/office/officeart/2005/8/layout/default"/>
    <dgm:cxn modelId="{0CC4A250-4F79-4456-8588-F3DBFF91B102}" type="presParOf" srcId="{D493497A-F2BB-4A1B-9796-DD950821C820}" destId="{89EA67B0-B48A-4351-80FC-41F387AA523D}" srcOrd="6" destOrd="0" presId="urn:microsoft.com/office/officeart/2005/8/layout/default"/>
    <dgm:cxn modelId="{F3DC02FD-6C1C-4FB2-8D29-A563F73255A6}" type="presParOf" srcId="{D493497A-F2BB-4A1B-9796-DD950821C820}" destId="{B325BFB8-C4D0-4F13-9A9B-3F3DADE36400}" srcOrd="7" destOrd="0" presId="urn:microsoft.com/office/officeart/2005/8/layout/default"/>
    <dgm:cxn modelId="{50EC0CDE-009F-4156-954C-32F9E8E7159E}" type="presParOf" srcId="{D493497A-F2BB-4A1B-9796-DD950821C820}" destId="{81010FFA-3DA9-44DB-AB3A-3B6E96DA2A2B}" srcOrd="8" destOrd="0" presId="urn:microsoft.com/office/officeart/2005/8/layout/default"/>
    <dgm:cxn modelId="{23D27EC9-3420-445F-8224-8BA6DA716BE8}" type="presParOf" srcId="{D493497A-F2BB-4A1B-9796-DD950821C820}" destId="{6F5294E2-6527-4ECD-A341-B1F79EEA6313}" srcOrd="9" destOrd="0" presId="urn:microsoft.com/office/officeart/2005/8/layout/default"/>
    <dgm:cxn modelId="{4970F2AF-B180-43D8-A30F-7F0B16417645}" type="presParOf" srcId="{D493497A-F2BB-4A1B-9796-DD950821C820}" destId="{734AF9A7-6109-42FB-8697-EDF58E459E87}" srcOrd="10" destOrd="0" presId="urn:microsoft.com/office/officeart/2005/8/layout/default"/>
    <dgm:cxn modelId="{7E2045B7-F85C-4D77-A3E3-93ABEF11BB32}" type="presParOf" srcId="{D493497A-F2BB-4A1B-9796-DD950821C820}" destId="{145CD567-35AF-461E-8C2C-DC5E3B3EE75A}" srcOrd="11" destOrd="0" presId="urn:microsoft.com/office/officeart/2005/8/layout/default"/>
    <dgm:cxn modelId="{857EF99C-C53A-463E-8A80-A446D1BD11AE}" type="presParOf" srcId="{D493497A-F2BB-4A1B-9796-DD950821C820}" destId="{22CAF289-0FE3-429C-B627-D2B9C2F7FFEE}"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8766398E-4E0E-4CD1-A625-EC1067D03343}" type="doc">
      <dgm:prSet loTypeId="urn:diagrams.loki3.com/VaryingWidthList" loCatId="list" qsTypeId="urn:microsoft.com/office/officeart/2005/8/quickstyle/simple1" qsCatId="simple" csTypeId="urn:microsoft.com/office/officeart/2005/8/colors/accent0_1" csCatId="mainScheme" phldr="1"/>
      <dgm:spPr/>
      <dgm:t>
        <a:bodyPr/>
        <a:lstStyle/>
        <a:p>
          <a:endParaRPr lang="en-US"/>
        </a:p>
      </dgm:t>
    </dgm:pt>
    <dgm:pt modelId="{453FB3F9-D7A1-4130-B3D0-D3161B419D30}">
      <dgm:prSet phldrT="[Text]" phldr="0" custT="1"/>
      <dgm:spPr/>
      <dgm:t>
        <a:bodyPr/>
        <a:lstStyle/>
        <a:p>
          <a:r>
            <a:rPr lang="en-US" sz="2800" dirty="0"/>
            <a:t>Fraudulent providers often have more extreme values</a:t>
          </a:r>
        </a:p>
      </dgm:t>
    </dgm:pt>
    <dgm:pt modelId="{E3095285-0E6B-499B-9B3F-DDCE99C3B334}" type="parTrans" cxnId="{5CE0B72E-D1C2-437F-B415-74A4072BC142}">
      <dgm:prSet/>
      <dgm:spPr/>
      <dgm:t>
        <a:bodyPr/>
        <a:lstStyle/>
        <a:p>
          <a:endParaRPr lang="en-US"/>
        </a:p>
      </dgm:t>
    </dgm:pt>
    <dgm:pt modelId="{0D3B5A9E-7760-4123-A85B-1370462C92A4}" type="sibTrans" cxnId="{5CE0B72E-D1C2-437F-B415-74A4072BC142}">
      <dgm:prSet/>
      <dgm:spPr/>
      <dgm:t>
        <a:bodyPr/>
        <a:lstStyle/>
        <a:p>
          <a:endParaRPr lang="en-US"/>
        </a:p>
      </dgm:t>
    </dgm:pt>
    <dgm:pt modelId="{08F1B8F6-A341-4593-87BF-99E4B8246F2D}">
      <dgm:prSet phldrT="[Text]" phldr="0" custT="1"/>
      <dgm:spPr/>
      <dgm:t>
        <a:bodyPr/>
        <a:lstStyle/>
        <a:p>
          <a:r>
            <a:rPr lang="en-US" sz="2800" dirty="0"/>
            <a:t>Some show unusually high average reimbursements</a:t>
          </a:r>
        </a:p>
      </dgm:t>
    </dgm:pt>
    <dgm:pt modelId="{96A79607-1F3B-49B0-A818-81EC2EA8BA4E}" type="parTrans" cxnId="{B10F827E-49AD-44D1-9AFA-D25D6388EAB1}">
      <dgm:prSet/>
      <dgm:spPr/>
      <dgm:t>
        <a:bodyPr/>
        <a:lstStyle/>
        <a:p>
          <a:endParaRPr lang="en-US"/>
        </a:p>
      </dgm:t>
    </dgm:pt>
    <dgm:pt modelId="{1FCAFBE0-548C-4243-AAE0-EE246D30795C}" type="sibTrans" cxnId="{B10F827E-49AD-44D1-9AFA-D25D6388EAB1}">
      <dgm:prSet/>
      <dgm:spPr/>
      <dgm:t>
        <a:bodyPr/>
        <a:lstStyle/>
        <a:p>
          <a:endParaRPr lang="en-US"/>
        </a:p>
      </dgm:t>
    </dgm:pt>
    <dgm:pt modelId="{4CE68748-E5C9-40F8-8C69-B0AD084BA2FD}">
      <dgm:prSet phldrT="[Text]" phldr="0" custT="1"/>
      <dgm:spPr/>
      <dgm:t>
        <a:bodyPr/>
        <a:lstStyle/>
        <a:p>
          <a:r>
            <a:rPr lang="en-US" sz="2800" dirty="0"/>
            <a:t>Claim count patterns differ noticeably</a:t>
          </a:r>
        </a:p>
      </dgm:t>
    </dgm:pt>
    <dgm:pt modelId="{A5F63823-F5C0-4AA7-AC12-19D14AE13C55}" type="parTrans" cxnId="{0D5203DC-7EF0-445E-A5D1-3D2F6A8F337A}">
      <dgm:prSet/>
      <dgm:spPr/>
      <dgm:t>
        <a:bodyPr/>
        <a:lstStyle/>
        <a:p>
          <a:endParaRPr lang="en-US"/>
        </a:p>
      </dgm:t>
    </dgm:pt>
    <dgm:pt modelId="{9BE6950A-DA1D-4CB9-B9C1-DB683647777F}" type="sibTrans" cxnId="{0D5203DC-7EF0-445E-A5D1-3D2F6A8F337A}">
      <dgm:prSet/>
      <dgm:spPr/>
      <dgm:t>
        <a:bodyPr/>
        <a:lstStyle/>
        <a:p>
          <a:endParaRPr lang="en-US"/>
        </a:p>
      </dgm:t>
    </dgm:pt>
    <dgm:pt modelId="{451255FB-C149-4D47-8476-F1A7B3C4E106}" type="pres">
      <dgm:prSet presAssocID="{8766398E-4E0E-4CD1-A625-EC1067D03343}" presName="Name0" presStyleCnt="0">
        <dgm:presLayoutVars>
          <dgm:resizeHandles/>
        </dgm:presLayoutVars>
      </dgm:prSet>
      <dgm:spPr/>
    </dgm:pt>
    <dgm:pt modelId="{DB125605-0C36-47BA-BD8A-E461742DD3DE}" type="pres">
      <dgm:prSet presAssocID="{453FB3F9-D7A1-4130-B3D0-D3161B419D30}" presName="text" presStyleLbl="node1" presStyleIdx="0" presStyleCnt="3" custScaleX="248356">
        <dgm:presLayoutVars>
          <dgm:bulletEnabled val="1"/>
        </dgm:presLayoutVars>
      </dgm:prSet>
      <dgm:spPr/>
    </dgm:pt>
    <dgm:pt modelId="{34669EE7-FDB0-4CF5-948A-4384008D8486}" type="pres">
      <dgm:prSet presAssocID="{0D3B5A9E-7760-4123-A85B-1370462C92A4}" presName="space" presStyleCnt="0"/>
      <dgm:spPr/>
    </dgm:pt>
    <dgm:pt modelId="{1D019DC1-273E-4D2D-8019-F702DDA27CD7}" type="pres">
      <dgm:prSet presAssocID="{08F1B8F6-A341-4593-87BF-99E4B8246F2D}" presName="text" presStyleLbl="node1" presStyleIdx="1" presStyleCnt="3" custScaleX="248356">
        <dgm:presLayoutVars>
          <dgm:bulletEnabled val="1"/>
        </dgm:presLayoutVars>
      </dgm:prSet>
      <dgm:spPr/>
    </dgm:pt>
    <dgm:pt modelId="{D057A289-C4E6-4263-A6CC-97E58839E433}" type="pres">
      <dgm:prSet presAssocID="{1FCAFBE0-548C-4243-AAE0-EE246D30795C}" presName="space" presStyleCnt="0"/>
      <dgm:spPr/>
    </dgm:pt>
    <dgm:pt modelId="{BC24D1D0-835E-46D0-928B-E37E6585456F}" type="pres">
      <dgm:prSet presAssocID="{4CE68748-E5C9-40F8-8C69-B0AD084BA2FD}" presName="text" presStyleLbl="node1" presStyleIdx="2" presStyleCnt="3" custScaleX="319314">
        <dgm:presLayoutVars>
          <dgm:bulletEnabled val="1"/>
        </dgm:presLayoutVars>
      </dgm:prSet>
      <dgm:spPr/>
    </dgm:pt>
  </dgm:ptLst>
  <dgm:cxnLst>
    <dgm:cxn modelId="{AD0A9D04-5179-43D5-8A42-E1BFCFD47D2B}" type="presOf" srcId="{453FB3F9-D7A1-4130-B3D0-D3161B419D30}" destId="{DB125605-0C36-47BA-BD8A-E461742DD3DE}" srcOrd="0" destOrd="0" presId="urn:diagrams.loki3.com/VaryingWidthList"/>
    <dgm:cxn modelId="{D77B9607-636A-426A-94EE-E05D096B7F96}" type="presOf" srcId="{08F1B8F6-A341-4593-87BF-99E4B8246F2D}" destId="{1D019DC1-273E-4D2D-8019-F702DDA27CD7}" srcOrd="0" destOrd="0" presId="urn:diagrams.loki3.com/VaryingWidthList"/>
    <dgm:cxn modelId="{5CE0B72E-D1C2-437F-B415-74A4072BC142}" srcId="{8766398E-4E0E-4CD1-A625-EC1067D03343}" destId="{453FB3F9-D7A1-4130-B3D0-D3161B419D30}" srcOrd="0" destOrd="0" parTransId="{E3095285-0E6B-499B-9B3F-DDCE99C3B334}" sibTransId="{0D3B5A9E-7760-4123-A85B-1370462C92A4}"/>
    <dgm:cxn modelId="{B10F827E-49AD-44D1-9AFA-D25D6388EAB1}" srcId="{8766398E-4E0E-4CD1-A625-EC1067D03343}" destId="{08F1B8F6-A341-4593-87BF-99E4B8246F2D}" srcOrd="1" destOrd="0" parTransId="{96A79607-1F3B-49B0-A818-81EC2EA8BA4E}" sibTransId="{1FCAFBE0-548C-4243-AAE0-EE246D30795C}"/>
    <dgm:cxn modelId="{C122FBA8-63D0-4D30-8ABA-6C98E60FB04E}" type="presOf" srcId="{8766398E-4E0E-4CD1-A625-EC1067D03343}" destId="{451255FB-C149-4D47-8476-F1A7B3C4E106}" srcOrd="0" destOrd="0" presId="urn:diagrams.loki3.com/VaryingWidthList"/>
    <dgm:cxn modelId="{8D0AC8A9-30AC-4A31-AA58-7E102A8CE441}" type="presOf" srcId="{4CE68748-E5C9-40F8-8C69-B0AD084BA2FD}" destId="{BC24D1D0-835E-46D0-928B-E37E6585456F}" srcOrd="0" destOrd="0" presId="urn:diagrams.loki3.com/VaryingWidthList"/>
    <dgm:cxn modelId="{0D5203DC-7EF0-445E-A5D1-3D2F6A8F337A}" srcId="{8766398E-4E0E-4CD1-A625-EC1067D03343}" destId="{4CE68748-E5C9-40F8-8C69-B0AD084BA2FD}" srcOrd="2" destOrd="0" parTransId="{A5F63823-F5C0-4AA7-AC12-19D14AE13C55}" sibTransId="{9BE6950A-DA1D-4CB9-B9C1-DB683647777F}"/>
    <dgm:cxn modelId="{91825C36-9023-4709-AC19-F8441DB9AA5C}" type="presParOf" srcId="{451255FB-C149-4D47-8476-F1A7B3C4E106}" destId="{DB125605-0C36-47BA-BD8A-E461742DD3DE}" srcOrd="0" destOrd="0" presId="urn:diagrams.loki3.com/VaryingWidthList"/>
    <dgm:cxn modelId="{E57535CB-CE3C-4486-AD11-88E63B8F37A1}" type="presParOf" srcId="{451255FB-C149-4D47-8476-F1A7B3C4E106}" destId="{34669EE7-FDB0-4CF5-948A-4384008D8486}" srcOrd="1" destOrd="0" presId="urn:diagrams.loki3.com/VaryingWidthList"/>
    <dgm:cxn modelId="{23F37B99-001E-442F-B169-B9295C3CAFC8}" type="presParOf" srcId="{451255FB-C149-4D47-8476-F1A7B3C4E106}" destId="{1D019DC1-273E-4D2D-8019-F702DDA27CD7}" srcOrd="2" destOrd="0" presId="urn:diagrams.loki3.com/VaryingWidthList"/>
    <dgm:cxn modelId="{9CEB1E51-3075-4F5B-AE15-ED01823C0EB4}" type="presParOf" srcId="{451255FB-C149-4D47-8476-F1A7B3C4E106}" destId="{D057A289-C4E6-4263-A6CC-97E58839E433}" srcOrd="3" destOrd="0" presId="urn:diagrams.loki3.com/VaryingWidthList"/>
    <dgm:cxn modelId="{FB7AC0CA-4B45-4CF5-9F94-219F7754ABE1}" type="presParOf" srcId="{451255FB-C149-4D47-8476-F1A7B3C4E106}" destId="{BC24D1D0-835E-46D0-928B-E37E6585456F}" srcOrd="4" destOrd="0" presId="urn:diagrams.loki3.com/VaryingWidth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5509919-36B5-4162-8899-417A9F93473B}" type="doc">
      <dgm:prSet loTypeId="urn:microsoft.com/office/officeart/2016/7/layout/LinearBlockProcessNumbered#1" loCatId="process" qsTypeId="urn:microsoft.com/office/officeart/2005/8/quickstyle/simple3" qsCatId="simple" csTypeId="urn:microsoft.com/office/officeart/2005/8/colors/accent0_3" csCatId="mainScheme" phldr="1"/>
      <dgm:spPr/>
      <dgm:t>
        <a:bodyPr/>
        <a:lstStyle/>
        <a:p>
          <a:endParaRPr lang="en-US"/>
        </a:p>
      </dgm:t>
    </dgm:pt>
    <dgm:pt modelId="{AAF9DEE3-8444-4CA1-8BC2-D834D3ED6C74}">
      <dgm:prSet/>
      <dgm:spPr/>
      <dgm:t>
        <a:bodyPr/>
        <a:lstStyle/>
        <a:p>
          <a:r>
            <a:rPr lang="en-US" dirty="0"/>
            <a:t>Class weighting</a:t>
          </a:r>
        </a:p>
      </dgm:t>
    </dgm:pt>
    <dgm:pt modelId="{205BDF49-153E-4CE8-8402-E23704595764}" type="parTrans" cxnId="{0A7DA706-17DD-412A-8BE0-4F6529274E66}">
      <dgm:prSet/>
      <dgm:spPr/>
      <dgm:t>
        <a:bodyPr/>
        <a:lstStyle/>
        <a:p>
          <a:endParaRPr lang="en-US"/>
        </a:p>
      </dgm:t>
    </dgm:pt>
    <dgm:pt modelId="{23210C7F-6847-491E-BE1F-A79529AF2B8B}" type="sibTrans" cxnId="{0A7DA706-17DD-412A-8BE0-4F6529274E66}">
      <dgm:prSet phldrT="01" phldr="0"/>
      <dgm:spPr/>
      <dgm:t>
        <a:bodyPr/>
        <a:lstStyle/>
        <a:p>
          <a:r>
            <a:rPr lang="en-US" dirty="0"/>
            <a:t>01</a:t>
          </a:r>
        </a:p>
      </dgm:t>
    </dgm:pt>
    <dgm:pt modelId="{B2B879BD-3840-400C-92BD-B2C2383358D7}">
      <dgm:prSet/>
      <dgm:spPr/>
      <dgm:t>
        <a:bodyPr/>
        <a:lstStyle/>
        <a:p>
          <a:r>
            <a:rPr lang="en-US" dirty="0"/>
            <a:t>SMOTE oversampling</a:t>
          </a:r>
        </a:p>
      </dgm:t>
    </dgm:pt>
    <dgm:pt modelId="{09440D86-F3E6-4A3C-9E78-1AFC56348641}" type="parTrans" cxnId="{42CDCACA-F394-4044-BBF6-522A0005ABCB}">
      <dgm:prSet/>
      <dgm:spPr/>
      <dgm:t>
        <a:bodyPr/>
        <a:lstStyle/>
        <a:p>
          <a:endParaRPr lang="en-US"/>
        </a:p>
      </dgm:t>
    </dgm:pt>
    <dgm:pt modelId="{FBAA44FF-54DE-45C8-9FAC-512C40277233}" type="sibTrans" cxnId="{42CDCACA-F394-4044-BBF6-522A0005ABCB}">
      <dgm:prSet phldrT="02" phldr="0"/>
      <dgm:spPr/>
      <dgm:t>
        <a:bodyPr/>
        <a:lstStyle/>
        <a:p>
          <a:r>
            <a:rPr lang="en-US" dirty="0"/>
            <a:t>02</a:t>
          </a:r>
        </a:p>
      </dgm:t>
    </dgm:pt>
    <dgm:pt modelId="{CA9D674E-4FF1-45DC-82E4-0B2DB6A5363F}">
      <dgm:prSet/>
      <dgm:spPr/>
      <dgm:t>
        <a:bodyPr/>
        <a:lstStyle/>
        <a:p>
          <a:r>
            <a:rPr lang="en-US" dirty="0"/>
            <a:t>Undersampling</a:t>
          </a:r>
        </a:p>
      </dgm:t>
    </dgm:pt>
    <dgm:pt modelId="{F1F10F9B-925A-4787-9D00-91106497A02E}" type="parTrans" cxnId="{C5BD0B3A-2D82-4EC1-9975-05076C4418DA}">
      <dgm:prSet/>
      <dgm:spPr/>
      <dgm:t>
        <a:bodyPr/>
        <a:lstStyle/>
        <a:p>
          <a:endParaRPr lang="en-US"/>
        </a:p>
      </dgm:t>
    </dgm:pt>
    <dgm:pt modelId="{196DA4DC-9DD2-4A39-8A3A-D367BFE5A8BA}" type="sibTrans" cxnId="{C5BD0B3A-2D82-4EC1-9975-05076C4418DA}">
      <dgm:prSet phldrT="03" phldr="0"/>
      <dgm:spPr/>
      <dgm:t>
        <a:bodyPr/>
        <a:lstStyle/>
        <a:p>
          <a:r>
            <a:rPr lang="en-US" dirty="0"/>
            <a:t>03</a:t>
          </a:r>
        </a:p>
      </dgm:t>
    </dgm:pt>
    <dgm:pt modelId="{BBD7CE23-7578-46E4-A32B-49C59E5A3210}">
      <dgm:prSet/>
      <dgm:spPr/>
      <dgm:t>
        <a:bodyPr/>
        <a:lstStyle/>
        <a:p>
          <a:r>
            <a:rPr lang="en-US" dirty="0"/>
            <a:t>Cost-sensitive learning</a:t>
          </a:r>
        </a:p>
      </dgm:t>
    </dgm:pt>
    <dgm:pt modelId="{6B895962-D19C-4409-8F0F-0F66FD54659D}" type="parTrans" cxnId="{B10D25B9-6B06-48FB-9A62-C3EA052BDA8D}">
      <dgm:prSet/>
      <dgm:spPr/>
      <dgm:t>
        <a:bodyPr/>
        <a:lstStyle/>
        <a:p>
          <a:endParaRPr lang="en-US"/>
        </a:p>
      </dgm:t>
    </dgm:pt>
    <dgm:pt modelId="{E442A2ED-106E-444D-899D-894C6D9EC064}" type="sibTrans" cxnId="{B10D25B9-6B06-48FB-9A62-C3EA052BDA8D}">
      <dgm:prSet phldrT="04" phldr="0"/>
      <dgm:spPr/>
      <dgm:t>
        <a:bodyPr/>
        <a:lstStyle/>
        <a:p>
          <a:r>
            <a:rPr lang="en-US" dirty="0"/>
            <a:t>04</a:t>
          </a:r>
        </a:p>
      </dgm:t>
    </dgm:pt>
    <dgm:pt modelId="{09F899AB-70CA-46DA-8F8C-58514A9FEF67}" type="pres">
      <dgm:prSet presAssocID="{15509919-36B5-4162-8899-417A9F93473B}" presName="Name0" presStyleCnt="0">
        <dgm:presLayoutVars>
          <dgm:animLvl val="lvl"/>
          <dgm:resizeHandles val="exact"/>
        </dgm:presLayoutVars>
      </dgm:prSet>
      <dgm:spPr/>
    </dgm:pt>
    <dgm:pt modelId="{9E708B2C-9056-43B8-820C-8D4D2D591614}" type="pres">
      <dgm:prSet presAssocID="{AAF9DEE3-8444-4CA1-8BC2-D834D3ED6C74}" presName="compositeNode" presStyleCnt="0">
        <dgm:presLayoutVars>
          <dgm:bulletEnabled val="1"/>
        </dgm:presLayoutVars>
      </dgm:prSet>
      <dgm:spPr/>
    </dgm:pt>
    <dgm:pt modelId="{F4992080-7D4E-4F2B-B608-170DDBB6006A}" type="pres">
      <dgm:prSet presAssocID="{AAF9DEE3-8444-4CA1-8BC2-D834D3ED6C74}" presName="bgRect" presStyleLbl="alignNode1" presStyleIdx="0" presStyleCnt="4"/>
      <dgm:spPr/>
    </dgm:pt>
    <dgm:pt modelId="{15536E38-36FE-4A51-B620-2715BFAD5475}" type="pres">
      <dgm:prSet presAssocID="{23210C7F-6847-491E-BE1F-A79529AF2B8B}" presName="sibTransNodeRect" presStyleLbl="alignNode1" presStyleIdx="0" presStyleCnt="4">
        <dgm:presLayoutVars>
          <dgm:chMax val="0"/>
          <dgm:bulletEnabled val="1"/>
        </dgm:presLayoutVars>
      </dgm:prSet>
      <dgm:spPr/>
    </dgm:pt>
    <dgm:pt modelId="{B158057C-23C1-45AE-9273-5935A8F6104B}" type="pres">
      <dgm:prSet presAssocID="{AAF9DEE3-8444-4CA1-8BC2-D834D3ED6C74}" presName="nodeRect" presStyleLbl="alignNode1" presStyleIdx="0" presStyleCnt="4">
        <dgm:presLayoutVars>
          <dgm:bulletEnabled val="1"/>
        </dgm:presLayoutVars>
      </dgm:prSet>
      <dgm:spPr/>
    </dgm:pt>
    <dgm:pt modelId="{5D52B8B6-958E-480C-9455-911A104C8C73}" type="pres">
      <dgm:prSet presAssocID="{23210C7F-6847-491E-BE1F-A79529AF2B8B}" presName="sibTrans" presStyleCnt="0"/>
      <dgm:spPr/>
    </dgm:pt>
    <dgm:pt modelId="{070CFBFA-AE62-406D-B2E3-4A871FE3EC95}" type="pres">
      <dgm:prSet presAssocID="{B2B879BD-3840-400C-92BD-B2C2383358D7}" presName="compositeNode" presStyleCnt="0">
        <dgm:presLayoutVars>
          <dgm:bulletEnabled val="1"/>
        </dgm:presLayoutVars>
      </dgm:prSet>
      <dgm:spPr/>
    </dgm:pt>
    <dgm:pt modelId="{89A9B4CF-6439-46B1-B6A9-1D6CD5034774}" type="pres">
      <dgm:prSet presAssocID="{B2B879BD-3840-400C-92BD-B2C2383358D7}" presName="bgRect" presStyleLbl="alignNode1" presStyleIdx="1" presStyleCnt="4"/>
      <dgm:spPr/>
    </dgm:pt>
    <dgm:pt modelId="{379B8CE4-8135-4F2C-A5A0-E55EBE328E9A}" type="pres">
      <dgm:prSet presAssocID="{FBAA44FF-54DE-45C8-9FAC-512C40277233}" presName="sibTransNodeRect" presStyleLbl="alignNode1" presStyleIdx="1" presStyleCnt="4">
        <dgm:presLayoutVars>
          <dgm:chMax val="0"/>
          <dgm:bulletEnabled val="1"/>
        </dgm:presLayoutVars>
      </dgm:prSet>
      <dgm:spPr/>
    </dgm:pt>
    <dgm:pt modelId="{9F2B2B99-E41C-48B6-9241-186B3896CDB2}" type="pres">
      <dgm:prSet presAssocID="{B2B879BD-3840-400C-92BD-B2C2383358D7}" presName="nodeRect" presStyleLbl="alignNode1" presStyleIdx="1" presStyleCnt="4">
        <dgm:presLayoutVars>
          <dgm:bulletEnabled val="1"/>
        </dgm:presLayoutVars>
      </dgm:prSet>
      <dgm:spPr/>
    </dgm:pt>
    <dgm:pt modelId="{88CC7DDE-DA0F-42A6-8406-A11161BD6BA9}" type="pres">
      <dgm:prSet presAssocID="{FBAA44FF-54DE-45C8-9FAC-512C40277233}" presName="sibTrans" presStyleCnt="0"/>
      <dgm:spPr/>
    </dgm:pt>
    <dgm:pt modelId="{4C550E1C-ACB2-4A5D-BD4A-3D5D60E405E6}" type="pres">
      <dgm:prSet presAssocID="{CA9D674E-4FF1-45DC-82E4-0B2DB6A5363F}" presName="compositeNode" presStyleCnt="0">
        <dgm:presLayoutVars>
          <dgm:bulletEnabled val="1"/>
        </dgm:presLayoutVars>
      </dgm:prSet>
      <dgm:spPr/>
    </dgm:pt>
    <dgm:pt modelId="{0802B4A8-7224-4B0A-95B7-D17AEB2B2AFF}" type="pres">
      <dgm:prSet presAssocID="{CA9D674E-4FF1-45DC-82E4-0B2DB6A5363F}" presName="bgRect" presStyleLbl="alignNode1" presStyleIdx="2" presStyleCnt="4"/>
      <dgm:spPr/>
    </dgm:pt>
    <dgm:pt modelId="{68AC9669-DC11-473A-AA2E-579A44E78C37}" type="pres">
      <dgm:prSet presAssocID="{196DA4DC-9DD2-4A39-8A3A-D367BFE5A8BA}" presName="sibTransNodeRect" presStyleLbl="alignNode1" presStyleIdx="2" presStyleCnt="4">
        <dgm:presLayoutVars>
          <dgm:chMax val="0"/>
          <dgm:bulletEnabled val="1"/>
        </dgm:presLayoutVars>
      </dgm:prSet>
      <dgm:spPr/>
    </dgm:pt>
    <dgm:pt modelId="{D085015A-41AF-4EFA-A104-4FD73B2362F0}" type="pres">
      <dgm:prSet presAssocID="{CA9D674E-4FF1-45DC-82E4-0B2DB6A5363F}" presName="nodeRect" presStyleLbl="alignNode1" presStyleIdx="2" presStyleCnt="4">
        <dgm:presLayoutVars>
          <dgm:bulletEnabled val="1"/>
        </dgm:presLayoutVars>
      </dgm:prSet>
      <dgm:spPr/>
    </dgm:pt>
    <dgm:pt modelId="{0512C5E3-377C-4319-96DB-FEBDE6BD0BA7}" type="pres">
      <dgm:prSet presAssocID="{196DA4DC-9DD2-4A39-8A3A-D367BFE5A8BA}" presName="sibTrans" presStyleCnt="0"/>
      <dgm:spPr/>
    </dgm:pt>
    <dgm:pt modelId="{E6D2CC64-2D4E-4CBB-8B01-6B5C9E6E1445}" type="pres">
      <dgm:prSet presAssocID="{BBD7CE23-7578-46E4-A32B-49C59E5A3210}" presName="compositeNode" presStyleCnt="0">
        <dgm:presLayoutVars>
          <dgm:bulletEnabled val="1"/>
        </dgm:presLayoutVars>
      </dgm:prSet>
      <dgm:spPr/>
    </dgm:pt>
    <dgm:pt modelId="{65ECD3DB-F2CE-4A46-8FCE-B135B8E2F726}" type="pres">
      <dgm:prSet presAssocID="{BBD7CE23-7578-46E4-A32B-49C59E5A3210}" presName="bgRect" presStyleLbl="alignNode1" presStyleIdx="3" presStyleCnt="4"/>
      <dgm:spPr/>
    </dgm:pt>
    <dgm:pt modelId="{2249182C-FD29-44EA-8B6C-589CF19A62C0}" type="pres">
      <dgm:prSet presAssocID="{E442A2ED-106E-444D-899D-894C6D9EC064}" presName="sibTransNodeRect" presStyleLbl="alignNode1" presStyleIdx="3" presStyleCnt="4">
        <dgm:presLayoutVars>
          <dgm:chMax val="0"/>
          <dgm:bulletEnabled val="1"/>
        </dgm:presLayoutVars>
      </dgm:prSet>
      <dgm:spPr/>
    </dgm:pt>
    <dgm:pt modelId="{00C78E9D-7D20-44AB-B798-1963E5E2E7CE}" type="pres">
      <dgm:prSet presAssocID="{BBD7CE23-7578-46E4-A32B-49C59E5A3210}" presName="nodeRect" presStyleLbl="alignNode1" presStyleIdx="3" presStyleCnt="4">
        <dgm:presLayoutVars>
          <dgm:bulletEnabled val="1"/>
        </dgm:presLayoutVars>
      </dgm:prSet>
      <dgm:spPr/>
    </dgm:pt>
  </dgm:ptLst>
  <dgm:cxnLst>
    <dgm:cxn modelId="{0A7DA706-17DD-412A-8BE0-4F6529274E66}" srcId="{15509919-36B5-4162-8899-417A9F93473B}" destId="{AAF9DEE3-8444-4CA1-8BC2-D834D3ED6C74}" srcOrd="0" destOrd="0" parTransId="{205BDF49-153E-4CE8-8402-E23704595764}" sibTransId="{23210C7F-6847-491E-BE1F-A79529AF2B8B}"/>
    <dgm:cxn modelId="{109C0B15-B806-4127-A7EA-6F2FD85C2B5C}" type="presOf" srcId="{AAF9DEE3-8444-4CA1-8BC2-D834D3ED6C74}" destId="{B158057C-23C1-45AE-9273-5935A8F6104B}" srcOrd="1" destOrd="0" presId="urn:microsoft.com/office/officeart/2016/7/layout/LinearBlockProcessNumbered#1"/>
    <dgm:cxn modelId="{284ED317-FBD3-4318-9DC1-43DD0A7A84DA}" type="presOf" srcId="{CA9D674E-4FF1-45DC-82E4-0B2DB6A5363F}" destId="{D085015A-41AF-4EFA-A104-4FD73B2362F0}" srcOrd="1" destOrd="0" presId="urn:microsoft.com/office/officeart/2016/7/layout/LinearBlockProcessNumbered#1"/>
    <dgm:cxn modelId="{28938E20-006F-438A-BC3B-539C09A41AF8}" type="presOf" srcId="{23210C7F-6847-491E-BE1F-A79529AF2B8B}" destId="{15536E38-36FE-4A51-B620-2715BFAD5475}" srcOrd="0" destOrd="0" presId="urn:microsoft.com/office/officeart/2016/7/layout/LinearBlockProcessNumbered#1"/>
    <dgm:cxn modelId="{9519B82E-A537-470B-AA27-A5E33C934F3E}" type="presOf" srcId="{196DA4DC-9DD2-4A39-8A3A-D367BFE5A8BA}" destId="{68AC9669-DC11-473A-AA2E-579A44E78C37}" srcOrd="0" destOrd="0" presId="urn:microsoft.com/office/officeart/2016/7/layout/LinearBlockProcessNumbered#1"/>
    <dgm:cxn modelId="{E774C62E-62A2-478F-B2D4-49AC51F9A4FC}" type="presOf" srcId="{FBAA44FF-54DE-45C8-9FAC-512C40277233}" destId="{379B8CE4-8135-4F2C-A5A0-E55EBE328E9A}" srcOrd="0" destOrd="0" presId="urn:microsoft.com/office/officeart/2016/7/layout/LinearBlockProcessNumbered#1"/>
    <dgm:cxn modelId="{C5BD0B3A-2D82-4EC1-9975-05076C4418DA}" srcId="{15509919-36B5-4162-8899-417A9F93473B}" destId="{CA9D674E-4FF1-45DC-82E4-0B2DB6A5363F}" srcOrd="2" destOrd="0" parTransId="{F1F10F9B-925A-4787-9D00-91106497A02E}" sibTransId="{196DA4DC-9DD2-4A39-8A3A-D367BFE5A8BA}"/>
    <dgm:cxn modelId="{D5EEFB42-8B8C-4DCA-90D0-73E7F923E24D}" type="presOf" srcId="{E442A2ED-106E-444D-899D-894C6D9EC064}" destId="{2249182C-FD29-44EA-8B6C-589CF19A62C0}" srcOrd="0" destOrd="0" presId="urn:microsoft.com/office/officeart/2016/7/layout/LinearBlockProcessNumbered#1"/>
    <dgm:cxn modelId="{6E5EF465-680F-4962-87CA-2B44BA61BBF3}" type="presOf" srcId="{AAF9DEE3-8444-4CA1-8BC2-D834D3ED6C74}" destId="{F4992080-7D4E-4F2B-B608-170DDBB6006A}" srcOrd="0" destOrd="0" presId="urn:microsoft.com/office/officeart/2016/7/layout/LinearBlockProcessNumbered#1"/>
    <dgm:cxn modelId="{6E9CB969-3124-4B5D-A054-B6FFECA34639}" type="presOf" srcId="{BBD7CE23-7578-46E4-A32B-49C59E5A3210}" destId="{00C78E9D-7D20-44AB-B798-1963E5E2E7CE}" srcOrd="1" destOrd="0" presId="urn:microsoft.com/office/officeart/2016/7/layout/LinearBlockProcessNumbered#1"/>
    <dgm:cxn modelId="{BE05FF76-48E4-476C-9495-A13A63321F9B}" type="presOf" srcId="{B2B879BD-3840-400C-92BD-B2C2383358D7}" destId="{89A9B4CF-6439-46B1-B6A9-1D6CD5034774}" srcOrd="0" destOrd="0" presId="urn:microsoft.com/office/officeart/2016/7/layout/LinearBlockProcessNumbered#1"/>
    <dgm:cxn modelId="{AEC6D081-73F8-41AD-9101-B43295B68E14}" type="presOf" srcId="{CA9D674E-4FF1-45DC-82E4-0B2DB6A5363F}" destId="{0802B4A8-7224-4B0A-95B7-D17AEB2B2AFF}" srcOrd="0" destOrd="0" presId="urn:microsoft.com/office/officeart/2016/7/layout/LinearBlockProcessNumbered#1"/>
    <dgm:cxn modelId="{7DEDC883-6B24-4BD5-A779-25B0FC048F3D}" type="presOf" srcId="{BBD7CE23-7578-46E4-A32B-49C59E5A3210}" destId="{65ECD3DB-F2CE-4A46-8FCE-B135B8E2F726}" srcOrd="0" destOrd="0" presId="urn:microsoft.com/office/officeart/2016/7/layout/LinearBlockProcessNumbered#1"/>
    <dgm:cxn modelId="{B10D25B9-6B06-48FB-9A62-C3EA052BDA8D}" srcId="{15509919-36B5-4162-8899-417A9F93473B}" destId="{BBD7CE23-7578-46E4-A32B-49C59E5A3210}" srcOrd="3" destOrd="0" parTransId="{6B895962-D19C-4409-8F0F-0F66FD54659D}" sibTransId="{E442A2ED-106E-444D-899D-894C6D9EC064}"/>
    <dgm:cxn modelId="{840BB0C7-181A-4BA4-9324-C35937B4BA77}" type="presOf" srcId="{15509919-36B5-4162-8899-417A9F93473B}" destId="{09F899AB-70CA-46DA-8F8C-58514A9FEF67}" srcOrd="0" destOrd="0" presId="urn:microsoft.com/office/officeart/2016/7/layout/LinearBlockProcessNumbered#1"/>
    <dgm:cxn modelId="{42CDCACA-F394-4044-BBF6-522A0005ABCB}" srcId="{15509919-36B5-4162-8899-417A9F93473B}" destId="{B2B879BD-3840-400C-92BD-B2C2383358D7}" srcOrd="1" destOrd="0" parTransId="{09440D86-F3E6-4A3C-9E78-1AFC56348641}" sibTransId="{FBAA44FF-54DE-45C8-9FAC-512C40277233}"/>
    <dgm:cxn modelId="{6AB3E3E3-CAC3-4821-AAD0-21289FC8AF3F}" type="presOf" srcId="{B2B879BD-3840-400C-92BD-B2C2383358D7}" destId="{9F2B2B99-E41C-48B6-9241-186B3896CDB2}" srcOrd="1" destOrd="0" presId="urn:microsoft.com/office/officeart/2016/7/layout/LinearBlockProcessNumbered#1"/>
    <dgm:cxn modelId="{90D3E440-E32E-4616-A794-C357B58C725C}" type="presParOf" srcId="{09F899AB-70CA-46DA-8F8C-58514A9FEF67}" destId="{9E708B2C-9056-43B8-820C-8D4D2D591614}" srcOrd="0" destOrd="0" presId="urn:microsoft.com/office/officeart/2016/7/layout/LinearBlockProcessNumbered#1"/>
    <dgm:cxn modelId="{94905F72-0547-4876-85BD-1CE201853F0E}" type="presParOf" srcId="{9E708B2C-9056-43B8-820C-8D4D2D591614}" destId="{F4992080-7D4E-4F2B-B608-170DDBB6006A}" srcOrd="0" destOrd="0" presId="urn:microsoft.com/office/officeart/2016/7/layout/LinearBlockProcessNumbered#1"/>
    <dgm:cxn modelId="{32F232D9-C82F-455D-A4CB-8A6F950974CB}" type="presParOf" srcId="{9E708B2C-9056-43B8-820C-8D4D2D591614}" destId="{15536E38-36FE-4A51-B620-2715BFAD5475}" srcOrd="1" destOrd="0" presId="urn:microsoft.com/office/officeart/2016/7/layout/LinearBlockProcessNumbered#1"/>
    <dgm:cxn modelId="{E1630E94-0972-452E-A256-8FE168492E2F}" type="presParOf" srcId="{9E708B2C-9056-43B8-820C-8D4D2D591614}" destId="{B158057C-23C1-45AE-9273-5935A8F6104B}" srcOrd="2" destOrd="0" presId="urn:microsoft.com/office/officeart/2016/7/layout/LinearBlockProcessNumbered#1"/>
    <dgm:cxn modelId="{3D53040A-6114-439D-91AE-A92823686B42}" type="presParOf" srcId="{09F899AB-70CA-46DA-8F8C-58514A9FEF67}" destId="{5D52B8B6-958E-480C-9455-911A104C8C73}" srcOrd="1" destOrd="0" presId="urn:microsoft.com/office/officeart/2016/7/layout/LinearBlockProcessNumbered#1"/>
    <dgm:cxn modelId="{71CD1E60-9941-432A-AAD3-6BEE9759C7CA}" type="presParOf" srcId="{09F899AB-70CA-46DA-8F8C-58514A9FEF67}" destId="{070CFBFA-AE62-406D-B2E3-4A871FE3EC95}" srcOrd="2" destOrd="0" presId="urn:microsoft.com/office/officeart/2016/7/layout/LinearBlockProcessNumbered#1"/>
    <dgm:cxn modelId="{E24E5F24-B05D-485A-B1E3-F029361EAC2F}" type="presParOf" srcId="{070CFBFA-AE62-406D-B2E3-4A871FE3EC95}" destId="{89A9B4CF-6439-46B1-B6A9-1D6CD5034774}" srcOrd="0" destOrd="0" presId="urn:microsoft.com/office/officeart/2016/7/layout/LinearBlockProcessNumbered#1"/>
    <dgm:cxn modelId="{B1A2A29E-FBA6-4188-BE73-D4752962B995}" type="presParOf" srcId="{070CFBFA-AE62-406D-B2E3-4A871FE3EC95}" destId="{379B8CE4-8135-4F2C-A5A0-E55EBE328E9A}" srcOrd="1" destOrd="0" presId="urn:microsoft.com/office/officeart/2016/7/layout/LinearBlockProcessNumbered#1"/>
    <dgm:cxn modelId="{F07F5881-E747-4C57-B3A8-80D81CA9E653}" type="presParOf" srcId="{070CFBFA-AE62-406D-B2E3-4A871FE3EC95}" destId="{9F2B2B99-E41C-48B6-9241-186B3896CDB2}" srcOrd="2" destOrd="0" presId="urn:microsoft.com/office/officeart/2016/7/layout/LinearBlockProcessNumbered#1"/>
    <dgm:cxn modelId="{CFE97617-C516-4DC5-9F9C-80DAA0EDE08F}" type="presParOf" srcId="{09F899AB-70CA-46DA-8F8C-58514A9FEF67}" destId="{88CC7DDE-DA0F-42A6-8406-A11161BD6BA9}" srcOrd="3" destOrd="0" presId="urn:microsoft.com/office/officeart/2016/7/layout/LinearBlockProcessNumbered#1"/>
    <dgm:cxn modelId="{B7A23FED-2302-47D8-8E80-C7B4D99F0301}" type="presParOf" srcId="{09F899AB-70CA-46DA-8F8C-58514A9FEF67}" destId="{4C550E1C-ACB2-4A5D-BD4A-3D5D60E405E6}" srcOrd="4" destOrd="0" presId="urn:microsoft.com/office/officeart/2016/7/layout/LinearBlockProcessNumbered#1"/>
    <dgm:cxn modelId="{B9E766C8-B1F9-4299-93D9-C5605EEE5998}" type="presParOf" srcId="{4C550E1C-ACB2-4A5D-BD4A-3D5D60E405E6}" destId="{0802B4A8-7224-4B0A-95B7-D17AEB2B2AFF}" srcOrd="0" destOrd="0" presId="urn:microsoft.com/office/officeart/2016/7/layout/LinearBlockProcessNumbered#1"/>
    <dgm:cxn modelId="{DDDBCEBE-059F-40AD-A1D1-8D888A5BCC15}" type="presParOf" srcId="{4C550E1C-ACB2-4A5D-BD4A-3D5D60E405E6}" destId="{68AC9669-DC11-473A-AA2E-579A44E78C37}" srcOrd="1" destOrd="0" presId="urn:microsoft.com/office/officeart/2016/7/layout/LinearBlockProcessNumbered#1"/>
    <dgm:cxn modelId="{90FC101C-CCF0-411F-ABB9-797553DF6D08}" type="presParOf" srcId="{4C550E1C-ACB2-4A5D-BD4A-3D5D60E405E6}" destId="{D085015A-41AF-4EFA-A104-4FD73B2362F0}" srcOrd="2" destOrd="0" presId="urn:microsoft.com/office/officeart/2016/7/layout/LinearBlockProcessNumbered#1"/>
    <dgm:cxn modelId="{45BEFEBF-019C-4696-9BFC-1F3E33FF0DA1}" type="presParOf" srcId="{09F899AB-70CA-46DA-8F8C-58514A9FEF67}" destId="{0512C5E3-377C-4319-96DB-FEBDE6BD0BA7}" srcOrd="5" destOrd="0" presId="urn:microsoft.com/office/officeart/2016/7/layout/LinearBlockProcessNumbered#1"/>
    <dgm:cxn modelId="{5CF2624C-BAD5-44E5-BDC0-09B765AF60D2}" type="presParOf" srcId="{09F899AB-70CA-46DA-8F8C-58514A9FEF67}" destId="{E6D2CC64-2D4E-4CBB-8B01-6B5C9E6E1445}" srcOrd="6" destOrd="0" presId="urn:microsoft.com/office/officeart/2016/7/layout/LinearBlockProcessNumbered#1"/>
    <dgm:cxn modelId="{39D4A999-A982-4AEB-8811-71E6217F84E6}" type="presParOf" srcId="{E6D2CC64-2D4E-4CBB-8B01-6B5C9E6E1445}" destId="{65ECD3DB-F2CE-4A46-8FCE-B135B8E2F726}" srcOrd="0" destOrd="0" presId="urn:microsoft.com/office/officeart/2016/7/layout/LinearBlockProcessNumbered#1"/>
    <dgm:cxn modelId="{BC5816FF-82D2-4F11-AC7C-6A66544B810B}" type="presParOf" srcId="{E6D2CC64-2D4E-4CBB-8B01-6B5C9E6E1445}" destId="{2249182C-FD29-44EA-8B6C-589CF19A62C0}" srcOrd="1" destOrd="0" presId="urn:microsoft.com/office/officeart/2016/7/layout/LinearBlockProcessNumbered#1"/>
    <dgm:cxn modelId="{006A0544-DABD-4F74-B4CC-7465B997A114}" type="presParOf" srcId="{E6D2CC64-2D4E-4CBB-8B01-6B5C9E6E1445}" destId="{00C78E9D-7D20-44AB-B798-1963E5E2E7CE}" srcOrd="2" destOrd="0" presId="urn:microsoft.com/office/officeart/2016/7/layout/LinearBlockProcessNumbere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992080-7D4E-4F2B-B608-170DDBB6006A}">
      <dsp:nvSpPr>
        <dsp:cNvPr id="0" name=""/>
        <dsp:cNvSpPr/>
      </dsp:nvSpPr>
      <dsp:spPr>
        <a:xfrm>
          <a:off x="196" y="439503"/>
          <a:ext cx="2372171" cy="2846605"/>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34318" tIns="0" rIns="234318" bIns="330200" numCol="1" spcCol="1270" anchor="t" anchorCtr="0">
          <a:noAutofit/>
        </a:bodyPr>
        <a:lstStyle/>
        <a:p>
          <a:pPr marL="0" lvl="0" indent="0" algn="l" defTabSz="1111250">
            <a:lnSpc>
              <a:spcPct val="90000"/>
            </a:lnSpc>
            <a:spcBef>
              <a:spcPct val="0"/>
            </a:spcBef>
            <a:spcAft>
              <a:spcPct val="35000"/>
            </a:spcAft>
            <a:buNone/>
          </a:pPr>
          <a:r>
            <a:rPr lang="en-US" sz="2500" kern="1200" dirty="0"/>
            <a:t>Billing for services not provided</a:t>
          </a:r>
        </a:p>
      </dsp:txBody>
      <dsp:txXfrm>
        <a:off x="196" y="1578145"/>
        <a:ext cx="2372171" cy="1707963"/>
      </dsp:txXfrm>
    </dsp:sp>
    <dsp:sp modelId="{15536E38-36FE-4A51-B620-2715BFAD5475}">
      <dsp:nvSpPr>
        <dsp:cNvPr id="0" name=""/>
        <dsp:cNvSpPr/>
      </dsp:nvSpPr>
      <dsp:spPr>
        <a:xfrm>
          <a:off x="196" y="439503"/>
          <a:ext cx="2372171" cy="1138642"/>
        </a:xfrm>
        <a:prstGeom prst="rect">
          <a:avLst/>
        </a:prstGeom>
        <a:noFill/>
        <a:ln w="12700"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34318" tIns="165100" rIns="234318" bIns="165100" numCol="1" spcCol="1270" anchor="ctr" anchorCtr="0">
          <a:noAutofit/>
        </a:bodyPr>
        <a:lstStyle/>
        <a:p>
          <a:pPr marL="0" lvl="0" indent="0" algn="l" defTabSz="2622550">
            <a:lnSpc>
              <a:spcPct val="90000"/>
            </a:lnSpc>
            <a:spcBef>
              <a:spcPct val="0"/>
            </a:spcBef>
            <a:spcAft>
              <a:spcPct val="35000"/>
            </a:spcAft>
            <a:buNone/>
          </a:pPr>
          <a:r>
            <a:rPr lang="en-US" sz="5900" kern="1200" dirty="0"/>
            <a:t>01</a:t>
          </a:r>
        </a:p>
      </dsp:txBody>
      <dsp:txXfrm>
        <a:off x="196" y="439503"/>
        <a:ext cx="2372171" cy="1138642"/>
      </dsp:txXfrm>
    </dsp:sp>
    <dsp:sp modelId="{89A9B4CF-6439-46B1-B6A9-1D6CD5034774}">
      <dsp:nvSpPr>
        <dsp:cNvPr id="0" name=""/>
        <dsp:cNvSpPr/>
      </dsp:nvSpPr>
      <dsp:spPr>
        <a:xfrm>
          <a:off x="2562141" y="439503"/>
          <a:ext cx="2372171" cy="2846605"/>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34318" tIns="0" rIns="234318" bIns="330200" numCol="1" spcCol="1270" anchor="t" anchorCtr="0">
          <a:noAutofit/>
        </a:bodyPr>
        <a:lstStyle/>
        <a:p>
          <a:pPr marL="0" lvl="0" indent="0" algn="l" defTabSz="1111250">
            <a:lnSpc>
              <a:spcPct val="90000"/>
            </a:lnSpc>
            <a:spcBef>
              <a:spcPct val="0"/>
            </a:spcBef>
            <a:spcAft>
              <a:spcPct val="35000"/>
            </a:spcAft>
            <a:buNone/>
          </a:pPr>
          <a:r>
            <a:rPr lang="en-US" sz="2500" kern="1200" dirty="0"/>
            <a:t>Upcoding</a:t>
          </a:r>
        </a:p>
      </dsp:txBody>
      <dsp:txXfrm>
        <a:off x="2562141" y="1578145"/>
        <a:ext cx="2372171" cy="1707963"/>
      </dsp:txXfrm>
    </dsp:sp>
    <dsp:sp modelId="{379B8CE4-8135-4F2C-A5A0-E55EBE328E9A}">
      <dsp:nvSpPr>
        <dsp:cNvPr id="0" name=""/>
        <dsp:cNvSpPr/>
      </dsp:nvSpPr>
      <dsp:spPr>
        <a:xfrm>
          <a:off x="2562141" y="439503"/>
          <a:ext cx="2372171" cy="1138642"/>
        </a:xfrm>
        <a:prstGeom prst="rect">
          <a:avLst/>
        </a:prstGeom>
        <a:noFill/>
        <a:ln w="12700"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34318" tIns="165100" rIns="234318" bIns="165100" numCol="1" spcCol="1270" anchor="ctr" anchorCtr="0">
          <a:noAutofit/>
        </a:bodyPr>
        <a:lstStyle/>
        <a:p>
          <a:pPr marL="0" lvl="0" indent="0" algn="l" defTabSz="2622550">
            <a:lnSpc>
              <a:spcPct val="90000"/>
            </a:lnSpc>
            <a:spcBef>
              <a:spcPct val="0"/>
            </a:spcBef>
            <a:spcAft>
              <a:spcPct val="35000"/>
            </a:spcAft>
            <a:buNone/>
          </a:pPr>
          <a:r>
            <a:rPr lang="en-US" sz="5900" kern="1200" dirty="0"/>
            <a:t>02</a:t>
          </a:r>
        </a:p>
      </dsp:txBody>
      <dsp:txXfrm>
        <a:off x="2562141" y="439503"/>
        <a:ext cx="2372171" cy="1138642"/>
      </dsp:txXfrm>
    </dsp:sp>
    <dsp:sp modelId="{0802B4A8-7224-4B0A-95B7-D17AEB2B2AFF}">
      <dsp:nvSpPr>
        <dsp:cNvPr id="0" name=""/>
        <dsp:cNvSpPr/>
      </dsp:nvSpPr>
      <dsp:spPr>
        <a:xfrm>
          <a:off x="5124086" y="439503"/>
          <a:ext cx="2372171" cy="2846605"/>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34318" tIns="0" rIns="234318" bIns="330200" numCol="1" spcCol="1270" anchor="t" anchorCtr="0">
          <a:noAutofit/>
        </a:bodyPr>
        <a:lstStyle/>
        <a:p>
          <a:pPr marL="0" lvl="0" indent="0" algn="l" defTabSz="1111250">
            <a:lnSpc>
              <a:spcPct val="90000"/>
            </a:lnSpc>
            <a:spcBef>
              <a:spcPct val="0"/>
            </a:spcBef>
            <a:spcAft>
              <a:spcPct val="35000"/>
            </a:spcAft>
            <a:buNone/>
          </a:pPr>
          <a:r>
            <a:rPr lang="en-US" sz="2500" kern="1200" dirty="0"/>
            <a:t>Unbundling</a:t>
          </a:r>
        </a:p>
      </dsp:txBody>
      <dsp:txXfrm>
        <a:off x="5124086" y="1578145"/>
        <a:ext cx="2372171" cy="1707963"/>
      </dsp:txXfrm>
    </dsp:sp>
    <dsp:sp modelId="{68AC9669-DC11-473A-AA2E-579A44E78C37}">
      <dsp:nvSpPr>
        <dsp:cNvPr id="0" name=""/>
        <dsp:cNvSpPr/>
      </dsp:nvSpPr>
      <dsp:spPr>
        <a:xfrm>
          <a:off x="5124086" y="439503"/>
          <a:ext cx="2372171" cy="1138642"/>
        </a:xfrm>
        <a:prstGeom prst="rect">
          <a:avLst/>
        </a:prstGeom>
        <a:noFill/>
        <a:ln w="12700"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34318" tIns="165100" rIns="234318" bIns="165100" numCol="1" spcCol="1270" anchor="ctr" anchorCtr="0">
          <a:noAutofit/>
        </a:bodyPr>
        <a:lstStyle/>
        <a:p>
          <a:pPr marL="0" lvl="0" indent="0" algn="l" defTabSz="2622550">
            <a:lnSpc>
              <a:spcPct val="90000"/>
            </a:lnSpc>
            <a:spcBef>
              <a:spcPct val="0"/>
            </a:spcBef>
            <a:spcAft>
              <a:spcPct val="35000"/>
            </a:spcAft>
            <a:buNone/>
          </a:pPr>
          <a:r>
            <a:rPr lang="en-US" sz="5900" kern="1200" dirty="0"/>
            <a:t>03</a:t>
          </a:r>
        </a:p>
      </dsp:txBody>
      <dsp:txXfrm>
        <a:off x="5124086" y="439503"/>
        <a:ext cx="2372171" cy="1138642"/>
      </dsp:txXfrm>
    </dsp:sp>
    <dsp:sp modelId="{65ECD3DB-F2CE-4A46-8FCE-B135B8E2F726}">
      <dsp:nvSpPr>
        <dsp:cNvPr id="0" name=""/>
        <dsp:cNvSpPr/>
      </dsp:nvSpPr>
      <dsp:spPr>
        <a:xfrm>
          <a:off x="7686032" y="439503"/>
          <a:ext cx="2372171" cy="2846605"/>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34318" tIns="0" rIns="234318" bIns="330200" numCol="1" spcCol="1270" anchor="t" anchorCtr="0">
          <a:noAutofit/>
        </a:bodyPr>
        <a:lstStyle/>
        <a:p>
          <a:pPr marL="0" lvl="0" indent="0" algn="l" defTabSz="1111250">
            <a:lnSpc>
              <a:spcPct val="90000"/>
            </a:lnSpc>
            <a:spcBef>
              <a:spcPct val="0"/>
            </a:spcBef>
            <a:spcAft>
              <a:spcPct val="35000"/>
            </a:spcAft>
            <a:buNone/>
          </a:pPr>
          <a:r>
            <a:rPr lang="en-US" sz="2500" kern="1200" dirty="0"/>
            <a:t>Claims for deceased patients</a:t>
          </a:r>
        </a:p>
      </dsp:txBody>
      <dsp:txXfrm>
        <a:off x="7686032" y="1578145"/>
        <a:ext cx="2372171" cy="1707963"/>
      </dsp:txXfrm>
    </dsp:sp>
    <dsp:sp modelId="{2249182C-FD29-44EA-8B6C-589CF19A62C0}">
      <dsp:nvSpPr>
        <dsp:cNvPr id="0" name=""/>
        <dsp:cNvSpPr/>
      </dsp:nvSpPr>
      <dsp:spPr>
        <a:xfrm>
          <a:off x="7686032" y="439503"/>
          <a:ext cx="2372171" cy="1138642"/>
        </a:xfrm>
        <a:prstGeom prst="rect">
          <a:avLst/>
        </a:prstGeom>
        <a:noFill/>
        <a:ln w="12700"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34318" tIns="165100" rIns="234318" bIns="165100" numCol="1" spcCol="1270" anchor="ctr" anchorCtr="0">
          <a:noAutofit/>
        </a:bodyPr>
        <a:lstStyle/>
        <a:p>
          <a:pPr marL="0" lvl="0" indent="0" algn="l" defTabSz="2622550">
            <a:lnSpc>
              <a:spcPct val="90000"/>
            </a:lnSpc>
            <a:spcBef>
              <a:spcPct val="0"/>
            </a:spcBef>
            <a:spcAft>
              <a:spcPct val="35000"/>
            </a:spcAft>
            <a:buNone/>
          </a:pPr>
          <a:r>
            <a:rPr lang="en-US" sz="5900" kern="1200" dirty="0"/>
            <a:t>04</a:t>
          </a:r>
        </a:p>
      </dsp:txBody>
      <dsp:txXfrm>
        <a:off x="7686032" y="439503"/>
        <a:ext cx="2372171" cy="11386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204182-4492-49DF-9447-79517A45D199}">
      <dsp:nvSpPr>
        <dsp:cNvPr id="0" name=""/>
        <dsp:cNvSpPr/>
      </dsp:nvSpPr>
      <dsp:spPr>
        <a:xfrm>
          <a:off x="2946" y="405278"/>
          <a:ext cx="2337792" cy="1402675"/>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Total number of claims</a:t>
          </a:r>
        </a:p>
      </dsp:txBody>
      <dsp:txXfrm>
        <a:off x="2946" y="405278"/>
        <a:ext cx="2337792" cy="1402675"/>
      </dsp:txXfrm>
    </dsp:sp>
    <dsp:sp modelId="{2C5DC5AE-A3D0-4BDF-924D-3DE6C60B8CF4}">
      <dsp:nvSpPr>
        <dsp:cNvPr id="0" name=""/>
        <dsp:cNvSpPr/>
      </dsp:nvSpPr>
      <dsp:spPr>
        <a:xfrm>
          <a:off x="2574518" y="405278"/>
          <a:ext cx="2337792" cy="1402675"/>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Total reimbursed amount</a:t>
          </a:r>
        </a:p>
      </dsp:txBody>
      <dsp:txXfrm>
        <a:off x="2574518" y="405278"/>
        <a:ext cx="2337792" cy="1402675"/>
      </dsp:txXfrm>
    </dsp:sp>
    <dsp:sp modelId="{6A010E9A-312D-4E7E-94F4-6C703748153B}">
      <dsp:nvSpPr>
        <dsp:cNvPr id="0" name=""/>
        <dsp:cNvSpPr/>
      </dsp:nvSpPr>
      <dsp:spPr>
        <a:xfrm>
          <a:off x="5146089" y="405278"/>
          <a:ext cx="2337792" cy="1402675"/>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Average reimbursement per claim</a:t>
          </a:r>
        </a:p>
      </dsp:txBody>
      <dsp:txXfrm>
        <a:off x="5146089" y="405278"/>
        <a:ext cx="2337792" cy="1402675"/>
      </dsp:txXfrm>
    </dsp:sp>
    <dsp:sp modelId="{89EA67B0-B48A-4351-80FC-41F387AA523D}">
      <dsp:nvSpPr>
        <dsp:cNvPr id="0" name=""/>
        <dsp:cNvSpPr/>
      </dsp:nvSpPr>
      <dsp:spPr>
        <a:xfrm>
          <a:off x="7717661" y="405278"/>
          <a:ext cx="2337792" cy="1402675"/>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Number of unique beneficiaries</a:t>
          </a:r>
        </a:p>
      </dsp:txBody>
      <dsp:txXfrm>
        <a:off x="7717661" y="405278"/>
        <a:ext cx="2337792" cy="1402675"/>
      </dsp:txXfrm>
    </dsp:sp>
    <dsp:sp modelId="{81010FFA-3DA9-44DB-AB3A-3B6E96DA2A2B}">
      <dsp:nvSpPr>
        <dsp:cNvPr id="0" name=""/>
        <dsp:cNvSpPr/>
      </dsp:nvSpPr>
      <dsp:spPr>
        <a:xfrm>
          <a:off x="1288732" y="2041733"/>
          <a:ext cx="2337792" cy="1402675"/>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Average beneficiary age</a:t>
          </a:r>
        </a:p>
      </dsp:txBody>
      <dsp:txXfrm>
        <a:off x="1288732" y="2041733"/>
        <a:ext cx="2337792" cy="1402675"/>
      </dsp:txXfrm>
    </dsp:sp>
    <dsp:sp modelId="{734AF9A7-6109-42FB-8697-EDF58E459E87}">
      <dsp:nvSpPr>
        <dsp:cNvPr id="0" name=""/>
        <dsp:cNvSpPr/>
      </dsp:nvSpPr>
      <dsp:spPr>
        <a:xfrm>
          <a:off x="3860303" y="2041733"/>
          <a:ext cx="2337792" cy="1402675"/>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Counts of chronic conditions</a:t>
          </a:r>
        </a:p>
      </dsp:txBody>
      <dsp:txXfrm>
        <a:off x="3860303" y="2041733"/>
        <a:ext cx="2337792" cy="1402675"/>
      </dsp:txXfrm>
    </dsp:sp>
    <dsp:sp modelId="{22CAF289-0FE3-429C-B627-D2B9C2F7FFEE}">
      <dsp:nvSpPr>
        <dsp:cNvPr id="0" name=""/>
        <dsp:cNvSpPr/>
      </dsp:nvSpPr>
      <dsp:spPr>
        <a:xfrm>
          <a:off x="6431875" y="2041733"/>
          <a:ext cx="2337792" cy="1402675"/>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Inpatient vs outpatient ratios</a:t>
          </a:r>
        </a:p>
      </dsp:txBody>
      <dsp:txXfrm>
        <a:off x="6431875" y="2041733"/>
        <a:ext cx="2337792" cy="14026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125605-0C36-47BA-BD8A-E461742DD3DE}">
      <dsp:nvSpPr>
        <dsp:cNvPr id="0" name=""/>
        <dsp:cNvSpPr/>
      </dsp:nvSpPr>
      <dsp:spPr>
        <a:xfrm>
          <a:off x="0" y="1879"/>
          <a:ext cx="10058399" cy="1240621"/>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1244600">
            <a:lnSpc>
              <a:spcPct val="90000"/>
            </a:lnSpc>
            <a:spcBef>
              <a:spcPct val="0"/>
            </a:spcBef>
            <a:spcAft>
              <a:spcPct val="35000"/>
            </a:spcAft>
            <a:buNone/>
          </a:pPr>
          <a:r>
            <a:rPr lang="en-US" sz="2800" kern="1200" dirty="0"/>
            <a:t>Fraudulent providers often have more extreme values</a:t>
          </a:r>
        </a:p>
      </dsp:txBody>
      <dsp:txXfrm>
        <a:off x="0" y="1879"/>
        <a:ext cx="10058399" cy="1240621"/>
      </dsp:txXfrm>
    </dsp:sp>
    <dsp:sp modelId="{1D019DC1-273E-4D2D-8019-F702DDA27CD7}">
      <dsp:nvSpPr>
        <dsp:cNvPr id="0" name=""/>
        <dsp:cNvSpPr/>
      </dsp:nvSpPr>
      <dsp:spPr>
        <a:xfrm>
          <a:off x="0" y="1304532"/>
          <a:ext cx="10058399" cy="1240621"/>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1244600">
            <a:lnSpc>
              <a:spcPct val="90000"/>
            </a:lnSpc>
            <a:spcBef>
              <a:spcPct val="0"/>
            </a:spcBef>
            <a:spcAft>
              <a:spcPct val="35000"/>
            </a:spcAft>
            <a:buNone/>
          </a:pPr>
          <a:r>
            <a:rPr lang="en-US" sz="2800" kern="1200" dirty="0"/>
            <a:t>Some show unusually high average reimbursements</a:t>
          </a:r>
        </a:p>
      </dsp:txBody>
      <dsp:txXfrm>
        <a:off x="0" y="1304532"/>
        <a:ext cx="10058399" cy="1240621"/>
      </dsp:txXfrm>
    </dsp:sp>
    <dsp:sp modelId="{BC24D1D0-835E-46D0-928B-E37E6585456F}">
      <dsp:nvSpPr>
        <dsp:cNvPr id="0" name=""/>
        <dsp:cNvSpPr/>
      </dsp:nvSpPr>
      <dsp:spPr>
        <a:xfrm>
          <a:off x="0" y="2607185"/>
          <a:ext cx="10058399" cy="1240621"/>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1244600">
            <a:lnSpc>
              <a:spcPct val="90000"/>
            </a:lnSpc>
            <a:spcBef>
              <a:spcPct val="0"/>
            </a:spcBef>
            <a:spcAft>
              <a:spcPct val="35000"/>
            </a:spcAft>
            <a:buNone/>
          </a:pPr>
          <a:r>
            <a:rPr lang="en-US" sz="2800" kern="1200" dirty="0"/>
            <a:t>Claim count patterns differ noticeably</a:t>
          </a:r>
        </a:p>
      </dsp:txBody>
      <dsp:txXfrm>
        <a:off x="0" y="2607185"/>
        <a:ext cx="10058399" cy="124062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992080-7D4E-4F2B-B608-170DDBB6006A}">
      <dsp:nvSpPr>
        <dsp:cNvPr id="0" name=""/>
        <dsp:cNvSpPr/>
      </dsp:nvSpPr>
      <dsp:spPr>
        <a:xfrm>
          <a:off x="196" y="439503"/>
          <a:ext cx="2372171" cy="2846605"/>
        </a:xfrm>
        <a:prstGeom prst="rect">
          <a:avLst/>
        </a:prstGeom>
        <a:gradFill rotWithShape="0">
          <a:gsLst>
            <a:gs pos="0">
              <a:schemeClr val="dk2">
                <a:hueOff val="0"/>
                <a:satOff val="0"/>
                <a:lumOff val="0"/>
                <a:alphaOff val="0"/>
                <a:tint val="60000"/>
                <a:satMod val="105000"/>
                <a:lumMod val="105000"/>
              </a:schemeClr>
            </a:gs>
            <a:gs pos="100000">
              <a:schemeClr val="dk2">
                <a:hueOff val="0"/>
                <a:satOff val="0"/>
                <a:lumOff val="0"/>
                <a:alphaOff val="0"/>
                <a:tint val="65000"/>
                <a:satMod val="100000"/>
                <a:lumMod val="100000"/>
              </a:schemeClr>
            </a:gs>
            <a:gs pos="100000">
              <a:schemeClr val="dk2">
                <a:hueOff val="0"/>
                <a:satOff val="0"/>
                <a:lumOff val="0"/>
                <a:alphaOff val="0"/>
                <a:tint val="70000"/>
                <a:satMod val="100000"/>
                <a:lumMod val="100000"/>
              </a:schemeClr>
            </a:gs>
          </a:gsLst>
          <a:lin ang="5400000" scaled="0"/>
        </a:gradFill>
        <a:ln w="6350" cap="flat" cmpd="sng" algn="ctr">
          <a:solidFill>
            <a:schemeClr val="dk2">
              <a:hueOff val="0"/>
              <a:satOff val="0"/>
              <a:lumOff val="0"/>
              <a:alphaOff val="0"/>
            </a:schemeClr>
          </a:solidFill>
          <a:prstDash val="solid"/>
        </a:ln>
        <a:effectLst/>
      </dsp:spPr>
      <dsp:style>
        <a:lnRef idx="1">
          <a:scrgbClr r="0" g="0" b="0"/>
        </a:lnRef>
        <a:fillRef idx="2">
          <a:scrgbClr r="0" g="0" b="0"/>
        </a:fillRef>
        <a:effectRef idx="1">
          <a:scrgbClr r="0" g="0" b="0"/>
        </a:effectRef>
        <a:fontRef idx="minor">
          <a:schemeClr val="dk1"/>
        </a:fontRef>
      </dsp:style>
      <dsp:txBody>
        <a:bodyPr spcFirstLastPara="0" vert="horz" wrap="square" lIns="234318" tIns="0" rIns="234318" bIns="330200" numCol="1" spcCol="1270" anchor="t" anchorCtr="0">
          <a:noAutofit/>
        </a:bodyPr>
        <a:lstStyle/>
        <a:p>
          <a:pPr marL="0" lvl="0" indent="0" algn="l" defTabSz="889000">
            <a:lnSpc>
              <a:spcPct val="90000"/>
            </a:lnSpc>
            <a:spcBef>
              <a:spcPct val="0"/>
            </a:spcBef>
            <a:spcAft>
              <a:spcPct val="35000"/>
            </a:spcAft>
            <a:buNone/>
          </a:pPr>
          <a:r>
            <a:rPr lang="en-US" sz="2000" kern="1200" dirty="0"/>
            <a:t>Class weighting</a:t>
          </a:r>
        </a:p>
      </dsp:txBody>
      <dsp:txXfrm>
        <a:off x="196" y="1578145"/>
        <a:ext cx="2372171" cy="1707963"/>
      </dsp:txXfrm>
    </dsp:sp>
    <dsp:sp modelId="{15536E38-36FE-4A51-B620-2715BFAD5475}">
      <dsp:nvSpPr>
        <dsp:cNvPr id="0" name=""/>
        <dsp:cNvSpPr/>
      </dsp:nvSpPr>
      <dsp:spPr>
        <a:xfrm>
          <a:off x="196" y="439503"/>
          <a:ext cx="2372171" cy="1138642"/>
        </a:xfrm>
        <a:prstGeom prst="rect">
          <a:avLst/>
        </a:prstGeom>
        <a:noFill/>
        <a:ln w="6350" cap="flat" cmpd="sng" algn="ctr">
          <a:noFill/>
          <a:prstDash val="solid"/>
        </a:ln>
        <a:effectLst/>
        <a:sp3d/>
      </dsp:spPr>
      <dsp:style>
        <a:lnRef idx="1">
          <a:scrgbClr r="0" g="0" b="0"/>
        </a:lnRef>
        <a:fillRef idx="2">
          <a:scrgbClr r="0" g="0" b="0"/>
        </a:fillRef>
        <a:effectRef idx="1">
          <a:scrgbClr r="0" g="0" b="0"/>
        </a:effectRef>
        <a:fontRef idx="minor">
          <a:schemeClr val="dk1"/>
        </a:fontRef>
      </dsp:style>
      <dsp:txBody>
        <a:bodyPr spcFirstLastPara="0" vert="horz" wrap="square" lIns="234318" tIns="165100" rIns="234318" bIns="165100" numCol="1" spcCol="1270" anchor="ctr" anchorCtr="0">
          <a:noAutofit/>
        </a:bodyPr>
        <a:lstStyle/>
        <a:p>
          <a:pPr marL="0" lvl="0" indent="0" algn="l" defTabSz="2622550">
            <a:lnSpc>
              <a:spcPct val="90000"/>
            </a:lnSpc>
            <a:spcBef>
              <a:spcPct val="0"/>
            </a:spcBef>
            <a:spcAft>
              <a:spcPct val="35000"/>
            </a:spcAft>
            <a:buNone/>
          </a:pPr>
          <a:r>
            <a:rPr lang="en-US" sz="5900" kern="1200" dirty="0"/>
            <a:t>01</a:t>
          </a:r>
        </a:p>
      </dsp:txBody>
      <dsp:txXfrm>
        <a:off x="196" y="439503"/>
        <a:ext cx="2372171" cy="1138642"/>
      </dsp:txXfrm>
    </dsp:sp>
    <dsp:sp modelId="{89A9B4CF-6439-46B1-B6A9-1D6CD5034774}">
      <dsp:nvSpPr>
        <dsp:cNvPr id="0" name=""/>
        <dsp:cNvSpPr/>
      </dsp:nvSpPr>
      <dsp:spPr>
        <a:xfrm>
          <a:off x="2562141" y="439503"/>
          <a:ext cx="2372171" cy="2846605"/>
        </a:xfrm>
        <a:prstGeom prst="rect">
          <a:avLst/>
        </a:prstGeom>
        <a:gradFill rotWithShape="0">
          <a:gsLst>
            <a:gs pos="0">
              <a:schemeClr val="dk2">
                <a:hueOff val="0"/>
                <a:satOff val="0"/>
                <a:lumOff val="0"/>
                <a:alphaOff val="0"/>
                <a:tint val="60000"/>
                <a:satMod val="105000"/>
                <a:lumMod val="105000"/>
              </a:schemeClr>
            </a:gs>
            <a:gs pos="100000">
              <a:schemeClr val="dk2">
                <a:hueOff val="0"/>
                <a:satOff val="0"/>
                <a:lumOff val="0"/>
                <a:alphaOff val="0"/>
                <a:tint val="65000"/>
                <a:satMod val="100000"/>
                <a:lumMod val="100000"/>
              </a:schemeClr>
            </a:gs>
            <a:gs pos="100000">
              <a:schemeClr val="dk2">
                <a:hueOff val="0"/>
                <a:satOff val="0"/>
                <a:lumOff val="0"/>
                <a:alphaOff val="0"/>
                <a:tint val="70000"/>
                <a:satMod val="100000"/>
                <a:lumMod val="100000"/>
              </a:schemeClr>
            </a:gs>
          </a:gsLst>
          <a:lin ang="5400000" scaled="0"/>
        </a:gradFill>
        <a:ln w="6350" cap="flat" cmpd="sng" algn="ctr">
          <a:solidFill>
            <a:schemeClr val="dk2">
              <a:hueOff val="0"/>
              <a:satOff val="0"/>
              <a:lumOff val="0"/>
              <a:alphaOff val="0"/>
            </a:schemeClr>
          </a:solidFill>
          <a:prstDash val="solid"/>
        </a:ln>
        <a:effectLst/>
      </dsp:spPr>
      <dsp:style>
        <a:lnRef idx="1">
          <a:scrgbClr r="0" g="0" b="0"/>
        </a:lnRef>
        <a:fillRef idx="2">
          <a:scrgbClr r="0" g="0" b="0"/>
        </a:fillRef>
        <a:effectRef idx="1">
          <a:scrgbClr r="0" g="0" b="0"/>
        </a:effectRef>
        <a:fontRef idx="minor">
          <a:schemeClr val="dk1"/>
        </a:fontRef>
      </dsp:style>
      <dsp:txBody>
        <a:bodyPr spcFirstLastPara="0" vert="horz" wrap="square" lIns="234318" tIns="0" rIns="234318" bIns="330200" numCol="1" spcCol="1270" anchor="t" anchorCtr="0">
          <a:noAutofit/>
        </a:bodyPr>
        <a:lstStyle/>
        <a:p>
          <a:pPr marL="0" lvl="0" indent="0" algn="l" defTabSz="889000">
            <a:lnSpc>
              <a:spcPct val="90000"/>
            </a:lnSpc>
            <a:spcBef>
              <a:spcPct val="0"/>
            </a:spcBef>
            <a:spcAft>
              <a:spcPct val="35000"/>
            </a:spcAft>
            <a:buNone/>
          </a:pPr>
          <a:r>
            <a:rPr lang="en-US" sz="2000" kern="1200" dirty="0"/>
            <a:t>SMOTE oversampling</a:t>
          </a:r>
        </a:p>
      </dsp:txBody>
      <dsp:txXfrm>
        <a:off x="2562141" y="1578145"/>
        <a:ext cx="2372171" cy="1707963"/>
      </dsp:txXfrm>
    </dsp:sp>
    <dsp:sp modelId="{379B8CE4-8135-4F2C-A5A0-E55EBE328E9A}">
      <dsp:nvSpPr>
        <dsp:cNvPr id="0" name=""/>
        <dsp:cNvSpPr/>
      </dsp:nvSpPr>
      <dsp:spPr>
        <a:xfrm>
          <a:off x="2562141" y="439503"/>
          <a:ext cx="2372171" cy="1138642"/>
        </a:xfrm>
        <a:prstGeom prst="rect">
          <a:avLst/>
        </a:prstGeom>
        <a:noFill/>
        <a:ln w="6350" cap="flat" cmpd="sng" algn="ctr">
          <a:noFill/>
          <a:prstDash val="solid"/>
        </a:ln>
        <a:effectLst/>
        <a:sp3d/>
      </dsp:spPr>
      <dsp:style>
        <a:lnRef idx="1">
          <a:scrgbClr r="0" g="0" b="0"/>
        </a:lnRef>
        <a:fillRef idx="2">
          <a:scrgbClr r="0" g="0" b="0"/>
        </a:fillRef>
        <a:effectRef idx="1">
          <a:scrgbClr r="0" g="0" b="0"/>
        </a:effectRef>
        <a:fontRef idx="minor">
          <a:schemeClr val="dk1"/>
        </a:fontRef>
      </dsp:style>
      <dsp:txBody>
        <a:bodyPr spcFirstLastPara="0" vert="horz" wrap="square" lIns="234318" tIns="165100" rIns="234318" bIns="165100" numCol="1" spcCol="1270" anchor="ctr" anchorCtr="0">
          <a:noAutofit/>
        </a:bodyPr>
        <a:lstStyle/>
        <a:p>
          <a:pPr marL="0" lvl="0" indent="0" algn="l" defTabSz="2622550">
            <a:lnSpc>
              <a:spcPct val="90000"/>
            </a:lnSpc>
            <a:spcBef>
              <a:spcPct val="0"/>
            </a:spcBef>
            <a:spcAft>
              <a:spcPct val="35000"/>
            </a:spcAft>
            <a:buNone/>
          </a:pPr>
          <a:r>
            <a:rPr lang="en-US" sz="5900" kern="1200" dirty="0"/>
            <a:t>02</a:t>
          </a:r>
        </a:p>
      </dsp:txBody>
      <dsp:txXfrm>
        <a:off x="2562141" y="439503"/>
        <a:ext cx="2372171" cy="1138642"/>
      </dsp:txXfrm>
    </dsp:sp>
    <dsp:sp modelId="{0802B4A8-7224-4B0A-95B7-D17AEB2B2AFF}">
      <dsp:nvSpPr>
        <dsp:cNvPr id="0" name=""/>
        <dsp:cNvSpPr/>
      </dsp:nvSpPr>
      <dsp:spPr>
        <a:xfrm>
          <a:off x="5124086" y="439503"/>
          <a:ext cx="2372171" cy="2846605"/>
        </a:xfrm>
        <a:prstGeom prst="rect">
          <a:avLst/>
        </a:prstGeom>
        <a:gradFill rotWithShape="0">
          <a:gsLst>
            <a:gs pos="0">
              <a:schemeClr val="dk2">
                <a:hueOff val="0"/>
                <a:satOff val="0"/>
                <a:lumOff val="0"/>
                <a:alphaOff val="0"/>
                <a:tint val="60000"/>
                <a:satMod val="105000"/>
                <a:lumMod val="105000"/>
              </a:schemeClr>
            </a:gs>
            <a:gs pos="100000">
              <a:schemeClr val="dk2">
                <a:hueOff val="0"/>
                <a:satOff val="0"/>
                <a:lumOff val="0"/>
                <a:alphaOff val="0"/>
                <a:tint val="65000"/>
                <a:satMod val="100000"/>
                <a:lumMod val="100000"/>
              </a:schemeClr>
            </a:gs>
            <a:gs pos="100000">
              <a:schemeClr val="dk2">
                <a:hueOff val="0"/>
                <a:satOff val="0"/>
                <a:lumOff val="0"/>
                <a:alphaOff val="0"/>
                <a:tint val="70000"/>
                <a:satMod val="100000"/>
                <a:lumMod val="100000"/>
              </a:schemeClr>
            </a:gs>
          </a:gsLst>
          <a:lin ang="5400000" scaled="0"/>
        </a:gradFill>
        <a:ln w="6350" cap="flat" cmpd="sng" algn="ctr">
          <a:solidFill>
            <a:schemeClr val="dk2">
              <a:hueOff val="0"/>
              <a:satOff val="0"/>
              <a:lumOff val="0"/>
              <a:alphaOff val="0"/>
            </a:schemeClr>
          </a:solidFill>
          <a:prstDash val="solid"/>
        </a:ln>
        <a:effectLst/>
      </dsp:spPr>
      <dsp:style>
        <a:lnRef idx="1">
          <a:scrgbClr r="0" g="0" b="0"/>
        </a:lnRef>
        <a:fillRef idx="2">
          <a:scrgbClr r="0" g="0" b="0"/>
        </a:fillRef>
        <a:effectRef idx="1">
          <a:scrgbClr r="0" g="0" b="0"/>
        </a:effectRef>
        <a:fontRef idx="minor">
          <a:schemeClr val="dk1"/>
        </a:fontRef>
      </dsp:style>
      <dsp:txBody>
        <a:bodyPr spcFirstLastPara="0" vert="horz" wrap="square" lIns="234318" tIns="0" rIns="234318" bIns="330200" numCol="1" spcCol="1270" anchor="t" anchorCtr="0">
          <a:noAutofit/>
        </a:bodyPr>
        <a:lstStyle/>
        <a:p>
          <a:pPr marL="0" lvl="0" indent="0" algn="l" defTabSz="889000">
            <a:lnSpc>
              <a:spcPct val="90000"/>
            </a:lnSpc>
            <a:spcBef>
              <a:spcPct val="0"/>
            </a:spcBef>
            <a:spcAft>
              <a:spcPct val="35000"/>
            </a:spcAft>
            <a:buNone/>
          </a:pPr>
          <a:r>
            <a:rPr lang="en-US" sz="2000" kern="1200" dirty="0"/>
            <a:t>Undersampling</a:t>
          </a:r>
        </a:p>
      </dsp:txBody>
      <dsp:txXfrm>
        <a:off x="5124086" y="1578145"/>
        <a:ext cx="2372171" cy="1707963"/>
      </dsp:txXfrm>
    </dsp:sp>
    <dsp:sp modelId="{68AC9669-DC11-473A-AA2E-579A44E78C37}">
      <dsp:nvSpPr>
        <dsp:cNvPr id="0" name=""/>
        <dsp:cNvSpPr/>
      </dsp:nvSpPr>
      <dsp:spPr>
        <a:xfrm>
          <a:off x="5124086" y="439503"/>
          <a:ext cx="2372171" cy="1138642"/>
        </a:xfrm>
        <a:prstGeom prst="rect">
          <a:avLst/>
        </a:prstGeom>
        <a:noFill/>
        <a:ln w="6350" cap="flat" cmpd="sng" algn="ctr">
          <a:noFill/>
          <a:prstDash val="solid"/>
        </a:ln>
        <a:effectLst/>
        <a:sp3d/>
      </dsp:spPr>
      <dsp:style>
        <a:lnRef idx="1">
          <a:scrgbClr r="0" g="0" b="0"/>
        </a:lnRef>
        <a:fillRef idx="2">
          <a:scrgbClr r="0" g="0" b="0"/>
        </a:fillRef>
        <a:effectRef idx="1">
          <a:scrgbClr r="0" g="0" b="0"/>
        </a:effectRef>
        <a:fontRef idx="minor">
          <a:schemeClr val="dk1"/>
        </a:fontRef>
      </dsp:style>
      <dsp:txBody>
        <a:bodyPr spcFirstLastPara="0" vert="horz" wrap="square" lIns="234318" tIns="165100" rIns="234318" bIns="165100" numCol="1" spcCol="1270" anchor="ctr" anchorCtr="0">
          <a:noAutofit/>
        </a:bodyPr>
        <a:lstStyle/>
        <a:p>
          <a:pPr marL="0" lvl="0" indent="0" algn="l" defTabSz="2622550">
            <a:lnSpc>
              <a:spcPct val="90000"/>
            </a:lnSpc>
            <a:spcBef>
              <a:spcPct val="0"/>
            </a:spcBef>
            <a:spcAft>
              <a:spcPct val="35000"/>
            </a:spcAft>
            <a:buNone/>
          </a:pPr>
          <a:r>
            <a:rPr lang="en-US" sz="5900" kern="1200" dirty="0"/>
            <a:t>03</a:t>
          </a:r>
        </a:p>
      </dsp:txBody>
      <dsp:txXfrm>
        <a:off x="5124086" y="439503"/>
        <a:ext cx="2372171" cy="1138642"/>
      </dsp:txXfrm>
    </dsp:sp>
    <dsp:sp modelId="{65ECD3DB-F2CE-4A46-8FCE-B135B8E2F726}">
      <dsp:nvSpPr>
        <dsp:cNvPr id="0" name=""/>
        <dsp:cNvSpPr/>
      </dsp:nvSpPr>
      <dsp:spPr>
        <a:xfrm>
          <a:off x="7686032" y="439503"/>
          <a:ext cx="2372171" cy="2846605"/>
        </a:xfrm>
        <a:prstGeom prst="rect">
          <a:avLst/>
        </a:prstGeom>
        <a:gradFill rotWithShape="0">
          <a:gsLst>
            <a:gs pos="0">
              <a:schemeClr val="dk2">
                <a:hueOff val="0"/>
                <a:satOff val="0"/>
                <a:lumOff val="0"/>
                <a:alphaOff val="0"/>
                <a:tint val="60000"/>
                <a:satMod val="105000"/>
                <a:lumMod val="105000"/>
              </a:schemeClr>
            </a:gs>
            <a:gs pos="100000">
              <a:schemeClr val="dk2">
                <a:hueOff val="0"/>
                <a:satOff val="0"/>
                <a:lumOff val="0"/>
                <a:alphaOff val="0"/>
                <a:tint val="65000"/>
                <a:satMod val="100000"/>
                <a:lumMod val="100000"/>
              </a:schemeClr>
            </a:gs>
            <a:gs pos="100000">
              <a:schemeClr val="dk2">
                <a:hueOff val="0"/>
                <a:satOff val="0"/>
                <a:lumOff val="0"/>
                <a:alphaOff val="0"/>
                <a:tint val="70000"/>
                <a:satMod val="100000"/>
                <a:lumMod val="100000"/>
              </a:schemeClr>
            </a:gs>
          </a:gsLst>
          <a:lin ang="5400000" scaled="0"/>
        </a:gradFill>
        <a:ln w="6350" cap="flat" cmpd="sng" algn="ctr">
          <a:solidFill>
            <a:schemeClr val="dk2">
              <a:hueOff val="0"/>
              <a:satOff val="0"/>
              <a:lumOff val="0"/>
              <a:alphaOff val="0"/>
            </a:schemeClr>
          </a:solidFill>
          <a:prstDash val="solid"/>
        </a:ln>
        <a:effectLst/>
      </dsp:spPr>
      <dsp:style>
        <a:lnRef idx="1">
          <a:scrgbClr r="0" g="0" b="0"/>
        </a:lnRef>
        <a:fillRef idx="2">
          <a:scrgbClr r="0" g="0" b="0"/>
        </a:fillRef>
        <a:effectRef idx="1">
          <a:scrgbClr r="0" g="0" b="0"/>
        </a:effectRef>
        <a:fontRef idx="minor">
          <a:schemeClr val="dk1"/>
        </a:fontRef>
      </dsp:style>
      <dsp:txBody>
        <a:bodyPr spcFirstLastPara="0" vert="horz" wrap="square" lIns="234318" tIns="0" rIns="234318" bIns="330200" numCol="1" spcCol="1270" anchor="t" anchorCtr="0">
          <a:noAutofit/>
        </a:bodyPr>
        <a:lstStyle/>
        <a:p>
          <a:pPr marL="0" lvl="0" indent="0" algn="l" defTabSz="889000">
            <a:lnSpc>
              <a:spcPct val="90000"/>
            </a:lnSpc>
            <a:spcBef>
              <a:spcPct val="0"/>
            </a:spcBef>
            <a:spcAft>
              <a:spcPct val="35000"/>
            </a:spcAft>
            <a:buNone/>
          </a:pPr>
          <a:r>
            <a:rPr lang="en-US" sz="2000" kern="1200" dirty="0"/>
            <a:t>Cost-sensitive learning</a:t>
          </a:r>
        </a:p>
      </dsp:txBody>
      <dsp:txXfrm>
        <a:off x="7686032" y="1578145"/>
        <a:ext cx="2372171" cy="1707963"/>
      </dsp:txXfrm>
    </dsp:sp>
    <dsp:sp modelId="{2249182C-FD29-44EA-8B6C-589CF19A62C0}">
      <dsp:nvSpPr>
        <dsp:cNvPr id="0" name=""/>
        <dsp:cNvSpPr/>
      </dsp:nvSpPr>
      <dsp:spPr>
        <a:xfrm>
          <a:off x="7686032" y="439503"/>
          <a:ext cx="2372171" cy="1138642"/>
        </a:xfrm>
        <a:prstGeom prst="rect">
          <a:avLst/>
        </a:prstGeom>
        <a:noFill/>
        <a:ln w="6350" cap="flat" cmpd="sng" algn="ctr">
          <a:noFill/>
          <a:prstDash val="solid"/>
        </a:ln>
        <a:effectLst/>
        <a:sp3d/>
      </dsp:spPr>
      <dsp:style>
        <a:lnRef idx="1">
          <a:scrgbClr r="0" g="0" b="0"/>
        </a:lnRef>
        <a:fillRef idx="2">
          <a:scrgbClr r="0" g="0" b="0"/>
        </a:fillRef>
        <a:effectRef idx="1">
          <a:scrgbClr r="0" g="0" b="0"/>
        </a:effectRef>
        <a:fontRef idx="minor">
          <a:schemeClr val="dk1"/>
        </a:fontRef>
      </dsp:style>
      <dsp:txBody>
        <a:bodyPr spcFirstLastPara="0" vert="horz" wrap="square" lIns="234318" tIns="165100" rIns="234318" bIns="165100" numCol="1" spcCol="1270" anchor="ctr" anchorCtr="0">
          <a:noAutofit/>
        </a:bodyPr>
        <a:lstStyle/>
        <a:p>
          <a:pPr marL="0" lvl="0" indent="0" algn="l" defTabSz="2622550">
            <a:lnSpc>
              <a:spcPct val="90000"/>
            </a:lnSpc>
            <a:spcBef>
              <a:spcPct val="0"/>
            </a:spcBef>
            <a:spcAft>
              <a:spcPct val="35000"/>
            </a:spcAft>
            <a:buNone/>
          </a:pPr>
          <a:r>
            <a:rPr lang="en-US" sz="5900" kern="1200" dirty="0"/>
            <a:t>04</a:t>
          </a:r>
        </a:p>
      </dsp:txBody>
      <dsp:txXfrm>
        <a:off x="7686032" y="439503"/>
        <a:ext cx="2372171" cy="1138642"/>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1">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97D4F0E7-A380-4E8A-A5E6-02A2C57BE889}">
          <dgm:prSet phldrT="1"/>
          <dgm:t>
            <a:bodyPr/>
            <a:lstStyle/>
            <a:p>
              <a:r>
                <a:t>01</a:t>
              </a:r>
            </a:p>
          </dgm:t>
        </dgm:pt>
        <dgm:pt modelId="201" type="sibTrans" cxnId="{5712BDC4-329B-45B2-9194-A148ABB6560A}">
          <dgm:prSet phldrT="2"/>
          <dgm:t>
            <a:bodyPr/>
            <a:lstStyle/>
            <a:p>
              <a:r>
                <a:t>02</a:t>
              </a:r>
            </a:p>
          </dgm:t>
        </dgm:pt>
        <dgm:pt modelId="301" type="sibTrans" cxnId="{8984278A-33F0-4B08-ABC0-F48449CE37F3}">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4.xml><?xml version="1.0" encoding="utf-8"?>
<dgm:layoutDef xmlns:dgm="http://schemas.openxmlformats.org/drawingml/2006/diagram" xmlns:a="http://schemas.openxmlformats.org/drawingml/2006/main" uniqueId="urn:microsoft.com/office/officeart/2016/7/layout/LinearBlockProcessNumbered#1">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97D4F0E7-A380-4E8A-A5E6-02A2C57BE889}">
          <dgm:prSet phldrT="1"/>
          <dgm:t>
            <a:bodyPr/>
            <a:lstStyle/>
            <a:p>
              <a:r>
                <a:t>01</a:t>
              </a:r>
            </a:p>
          </dgm:t>
        </dgm:pt>
        <dgm:pt modelId="201" type="sibTrans" cxnId="{5712BDC4-329B-45B2-9194-A148ABB6560A}">
          <dgm:prSet phldrT="2"/>
          <dgm:t>
            <a:bodyPr/>
            <a:lstStyle/>
            <a:p>
              <a:r>
                <a:t>02</a:t>
              </a:r>
            </a:p>
          </dgm:t>
        </dgm:pt>
        <dgm:pt modelId="301" type="sibTrans" cxnId="{8984278A-33F0-4B08-ABC0-F48449CE37F3}">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txBody>
          <a:bodyPr/>
          <a:lstStyle/>
          <a:p>
            <a:endParaRPr lang="en-US" dirty="0"/>
          </a:p>
        </p:txBody>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en-US" dirty="0"/>
          </a:p>
        </p:txBody>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12/4/2025</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957750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870318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txBody>
          <a:bodyPr/>
          <a:lstStyle/>
          <a:p>
            <a:endParaRPr lang="en-US" dirty="0"/>
          </a:p>
        </p:txBody>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en-US" dirty="0"/>
          </a:p>
        </p:txBody>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12/4/2025</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499058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290950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12/4/2025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545147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12/4/2025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381700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12/4/2025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969161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12/4/2025</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007531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12/4/2025</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988086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txBody>
          <a:bodyPr/>
          <a:lstStyle/>
          <a:p>
            <a:endParaRPr lang="en-US" dirty="0"/>
          </a:p>
        </p:txBody>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US" dirty="0"/>
          </a:p>
        </p:txBody>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12/4/2025</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1164094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lang="en-US" sz="36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20000"/>
        </a:lnSpc>
        <a:spcBef>
          <a:spcPts val="900"/>
        </a:spcBef>
        <a:spcAft>
          <a:spcPts val="0"/>
        </a:spcAft>
        <a:buClr>
          <a:schemeClr val="tx1">
            <a:lumMod val="85000"/>
            <a:lumOff val="15000"/>
          </a:schemeClr>
        </a:buClr>
        <a:buFont typeface="Garamond" pitchFamily="18" charset="0"/>
        <a:buChar char="◦"/>
        <a:defRPr sz="14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2BA1780-A246-4C7F-9267-727EF2F4E785}"/>
              </a:ext>
              <a:ext uri="{C183D7F6-B498-43B3-948B-1728B52AA6E4}">
                <adec:decorative xmlns:adec="http://schemas.microsoft.com/office/drawing/2017/decorative" val="1"/>
              </a:ext>
            </a:extLst>
          </p:cNvPr>
          <p:cNvPicPr>
            <a:picLocks noChangeAspect="1"/>
          </p:cNvPicPr>
          <p:nvPr/>
        </p:nvPicPr>
        <p:blipFill rotWithShape="1">
          <a:blip r:embed="rId3"/>
          <a:srcRect t="3846"/>
          <a:stretch/>
        </p:blipFill>
        <p:spPr>
          <a:xfrm>
            <a:off x="20" y="10"/>
            <a:ext cx="12191979" cy="6857990"/>
          </a:xfrm>
          <a:prstGeom prst="rect">
            <a:avLst/>
          </a:prstGeom>
        </p:spPr>
      </p:pic>
      <p:sp>
        <p:nvSpPr>
          <p:cNvPr id="19" name="Rectangle 18">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7329" y="1808532"/>
            <a:ext cx="5452527" cy="3240936"/>
          </a:xfrm>
          <a:prstGeom prst="rect">
            <a:avLst/>
          </a:prstGeom>
          <a:solidFill>
            <a:schemeClr val="bg1">
              <a:lumMod val="75000"/>
              <a:lumOff val="25000"/>
            </a:schemeClr>
          </a:solidFill>
          <a:ln w="6350" cap="sq" cmpd="sng" algn="ctr">
            <a:noFill/>
            <a:prstDash val="solid"/>
            <a:miter lim="800000"/>
          </a:ln>
          <a:effectLst/>
        </p:spPr>
        <p:txBody>
          <a:bodyPr/>
          <a:lstStyle/>
          <a:p>
            <a:endParaRPr lang="en-US" dirty="0"/>
          </a:p>
        </p:txBody>
      </p:sp>
      <p:sp>
        <p:nvSpPr>
          <p:cNvPr id="21" name="Rectangle 20">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3272" y="1975104"/>
            <a:ext cx="5120640" cy="2907792"/>
          </a:xfrm>
          <a:prstGeom prst="rect">
            <a:avLst/>
          </a:prstGeom>
          <a:noFill/>
          <a:ln w="6350" cap="sq" cmpd="sng" algn="ctr">
            <a:solidFill>
              <a:schemeClr val="tx1"/>
            </a:solidFill>
            <a:prstDash val="solid"/>
            <a:miter lim="800000"/>
          </a:ln>
          <a:effectLst>
            <a:softEdge rad="0"/>
          </a:effectLst>
        </p:spPr>
        <p:txBody>
          <a:bodyPr/>
          <a:lstStyle/>
          <a:p>
            <a:endParaRPr lang="en-US" dirty="0"/>
          </a:p>
        </p:txBody>
      </p:sp>
      <p:sp>
        <p:nvSpPr>
          <p:cNvPr id="2" name="Title 1">
            <a:extLst>
              <a:ext uri="{FF2B5EF4-FFF2-40B4-BE49-F238E27FC236}">
                <a16:creationId xmlns:a16="http://schemas.microsoft.com/office/drawing/2014/main" id="{C0D7398C-75E5-4CB0-BA4F-D7D5CF2495D4}"/>
              </a:ext>
            </a:extLst>
          </p:cNvPr>
          <p:cNvSpPr>
            <a:spLocks noGrp="1"/>
          </p:cNvSpPr>
          <p:nvPr>
            <p:ph type="ctrTitle"/>
          </p:nvPr>
        </p:nvSpPr>
        <p:spPr>
          <a:xfrm>
            <a:off x="1276055" y="2350017"/>
            <a:ext cx="4775075" cy="1630906"/>
          </a:xfrm>
        </p:spPr>
        <p:txBody>
          <a:bodyPr>
            <a:normAutofit fontScale="90000"/>
          </a:bodyPr>
          <a:lstStyle/>
          <a:p>
            <a:r>
              <a:rPr lang="en-US" sz="4400" dirty="0">
                <a:solidFill>
                  <a:schemeClr val="tx1"/>
                </a:solidFill>
              </a:rPr>
              <a:t>Healthcare provider fraud detection</a:t>
            </a:r>
          </a:p>
        </p:txBody>
      </p:sp>
      <p:sp>
        <p:nvSpPr>
          <p:cNvPr id="3" name="Subtitle 2">
            <a:extLst>
              <a:ext uri="{FF2B5EF4-FFF2-40B4-BE49-F238E27FC236}">
                <a16:creationId xmlns:a16="http://schemas.microsoft.com/office/drawing/2014/main" id="{5C5BFB45-FC34-495C-9C68-F9641246C2EE}"/>
              </a:ext>
            </a:extLst>
          </p:cNvPr>
          <p:cNvSpPr>
            <a:spLocks noGrp="1"/>
          </p:cNvSpPr>
          <p:nvPr>
            <p:ph type="subTitle" idx="1"/>
          </p:nvPr>
        </p:nvSpPr>
        <p:spPr>
          <a:xfrm>
            <a:off x="1276055" y="3990546"/>
            <a:ext cx="4775075" cy="559656"/>
          </a:xfrm>
        </p:spPr>
        <p:txBody>
          <a:bodyPr>
            <a:normAutofit fontScale="85000" lnSpcReduction="20000"/>
          </a:bodyPr>
          <a:lstStyle/>
          <a:p>
            <a:r>
              <a:rPr lang="en-US" dirty="0">
                <a:solidFill>
                  <a:schemeClr val="tx1"/>
                </a:solidFill>
              </a:rPr>
              <a:t>By: Jumana Mohab, Youssef Wael, Omar </a:t>
            </a:r>
            <a:r>
              <a:rPr lang="en-US" dirty="0" err="1">
                <a:solidFill>
                  <a:schemeClr val="tx1"/>
                </a:solidFill>
              </a:rPr>
              <a:t>Hefny</a:t>
            </a:r>
            <a:r>
              <a:rPr lang="en-US" dirty="0">
                <a:solidFill>
                  <a:schemeClr val="tx1"/>
                </a:solidFill>
              </a:rPr>
              <a:t>, Ahmed Tamer</a:t>
            </a:r>
          </a:p>
        </p:txBody>
      </p:sp>
    </p:spTree>
    <p:extLst>
      <p:ext uri="{BB962C8B-B14F-4D97-AF65-F5344CB8AC3E}">
        <p14:creationId xmlns:p14="http://schemas.microsoft.com/office/powerpoint/2010/main" val="215208291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6268C-84EA-226F-0DA7-70DCCB95CD63}"/>
              </a:ext>
            </a:extLst>
          </p:cNvPr>
          <p:cNvSpPr>
            <a:spLocks noGrp="1"/>
          </p:cNvSpPr>
          <p:nvPr>
            <p:ph type="title"/>
          </p:nvPr>
        </p:nvSpPr>
        <p:spPr/>
        <p:txBody>
          <a:bodyPr/>
          <a:lstStyle/>
          <a:p>
            <a:r>
              <a:rPr lang="en-US" dirty="0"/>
              <a:t>Project Overview:</a:t>
            </a:r>
          </a:p>
        </p:txBody>
      </p:sp>
      <p:sp>
        <p:nvSpPr>
          <p:cNvPr id="3" name="Content Placeholder 2">
            <a:extLst>
              <a:ext uri="{FF2B5EF4-FFF2-40B4-BE49-F238E27FC236}">
                <a16:creationId xmlns:a16="http://schemas.microsoft.com/office/drawing/2014/main" id="{3298ABDC-8B75-6672-270E-371A033FF4AB}"/>
              </a:ext>
            </a:extLst>
          </p:cNvPr>
          <p:cNvSpPr>
            <a:spLocks noGrp="1"/>
          </p:cNvSpPr>
          <p:nvPr>
            <p:ph idx="1"/>
          </p:nvPr>
        </p:nvSpPr>
        <p:spPr/>
        <p:txBody>
          <a:bodyPr>
            <a:normAutofit/>
          </a:bodyPr>
          <a:lstStyle/>
          <a:p>
            <a:r>
              <a:rPr lang="en-US" sz="3200" dirty="0"/>
              <a:t>We built a model that predicts which healthcare providers are likely to be involved in fraudulent billing. This helps medicare prioritize investigations.</a:t>
            </a:r>
          </a:p>
        </p:txBody>
      </p:sp>
    </p:spTree>
    <p:extLst>
      <p:ext uri="{BB962C8B-B14F-4D97-AF65-F5344CB8AC3E}">
        <p14:creationId xmlns:p14="http://schemas.microsoft.com/office/powerpoint/2010/main" val="153579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B8085-1FFF-44DD-A144-D794D923CF00}"/>
              </a:ext>
            </a:extLst>
          </p:cNvPr>
          <p:cNvSpPr>
            <a:spLocks noGrp="1"/>
          </p:cNvSpPr>
          <p:nvPr>
            <p:ph type="title"/>
          </p:nvPr>
        </p:nvSpPr>
        <p:spPr>
          <a:xfrm>
            <a:off x="1066800" y="642594"/>
            <a:ext cx="10058400" cy="1371600"/>
          </a:xfrm>
        </p:spPr>
        <p:txBody>
          <a:bodyPr>
            <a:normAutofit/>
          </a:bodyPr>
          <a:lstStyle/>
          <a:p>
            <a:pPr algn="ctr"/>
            <a:r>
              <a:rPr lang="en-US" dirty="0"/>
              <a:t>Why is fraud detection important:</a:t>
            </a:r>
          </a:p>
        </p:txBody>
      </p:sp>
      <p:graphicFrame>
        <p:nvGraphicFramePr>
          <p:cNvPr id="5" name="Content Placeholder 2" descr="SmartArt Process Diagram">
            <a:extLst>
              <a:ext uri="{FF2B5EF4-FFF2-40B4-BE49-F238E27FC236}">
                <a16:creationId xmlns:a16="http://schemas.microsoft.com/office/drawing/2014/main" id="{60233515-42BF-4401-AB7F-458C06159D34}"/>
              </a:ext>
            </a:extLst>
          </p:cNvPr>
          <p:cNvGraphicFramePr>
            <a:graphicFrameLocks noGrp="1"/>
          </p:cNvGraphicFramePr>
          <p:nvPr>
            <p:ph idx="1"/>
            <p:extLst>
              <p:ext uri="{D42A27DB-BD31-4B8C-83A1-F6EECF244321}">
                <p14:modId xmlns:p14="http://schemas.microsoft.com/office/powerpoint/2010/main" val="1743893970"/>
              </p:ext>
            </p:extLst>
          </p:nvPr>
        </p:nvGraphicFramePr>
        <p:xfrm>
          <a:off x="1066800" y="2310063"/>
          <a:ext cx="10058400" cy="37256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33773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64228-99FE-0790-D2D9-007FE46A1371}"/>
              </a:ext>
            </a:extLst>
          </p:cNvPr>
          <p:cNvSpPr>
            <a:spLocks noGrp="1"/>
          </p:cNvSpPr>
          <p:nvPr>
            <p:ph type="title"/>
          </p:nvPr>
        </p:nvSpPr>
        <p:spPr/>
        <p:txBody>
          <a:bodyPr/>
          <a:lstStyle/>
          <a:p>
            <a:r>
              <a:rPr lang="en-US" dirty="0"/>
              <a:t>Datasets:</a:t>
            </a:r>
          </a:p>
        </p:txBody>
      </p:sp>
      <p:sp>
        <p:nvSpPr>
          <p:cNvPr id="3" name="Content Placeholder 2">
            <a:extLst>
              <a:ext uri="{FF2B5EF4-FFF2-40B4-BE49-F238E27FC236}">
                <a16:creationId xmlns:a16="http://schemas.microsoft.com/office/drawing/2014/main" id="{CFE1EE0D-120E-E045-AAE7-AA33FAADF6FF}"/>
              </a:ext>
            </a:extLst>
          </p:cNvPr>
          <p:cNvSpPr>
            <a:spLocks noGrp="1"/>
          </p:cNvSpPr>
          <p:nvPr>
            <p:ph idx="1"/>
          </p:nvPr>
        </p:nvSpPr>
        <p:spPr>
          <a:xfrm>
            <a:off x="1066800" y="2103120"/>
            <a:ext cx="5029200" cy="3629465"/>
          </a:xfrm>
        </p:spPr>
        <p:txBody>
          <a:bodyPr>
            <a:noAutofit/>
          </a:bodyPr>
          <a:lstStyle/>
          <a:p>
            <a:pPr marL="0" indent="0">
              <a:buNone/>
            </a:pPr>
            <a:r>
              <a:rPr lang="en-US" sz="2000" dirty="0"/>
              <a:t>We used multiple datasets, such as:</a:t>
            </a:r>
          </a:p>
          <a:p>
            <a:r>
              <a:rPr lang="en-US" sz="2000" dirty="0"/>
              <a:t>Beneficiary data (patient demographics and chronic conditions)</a:t>
            </a:r>
          </a:p>
          <a:p>
            <a:r>
              <a:rPr lang="en-US" sz="2000" dirty="0"/>
              <a:t>Inpatient claims (hospital stays)</a:t>
            </a:r>
          </a:p>
          <a:p>
            <a:r>
              <a:rPr lang="en-US" sz="2000" dirty="0"/>
              <a:t>Outpatient claims (visits and tests)</a:t>
            </a:r>
          </a:p>
          <a:p>
            <a:r>
              <a:rPr lang="en-US" sz="2000" dirty="0"/>
              <a:t>Combined claims</a:t>
            </a:r>
          </a:p>
          <a:p>
            <a:r>
              <a:rPr lang="en-US" sz="2000" dirty="0"/>
              <a:t>Fraud labels</a:t>
            </a:r>
          </a:p>
          <a:p>
            <a:pPr marL="0" indent="0">
              <a:buNone/>
            </a:pPr>
            <a:r>
              <a:rPr lang="en-US" sz="2000" dirty="0"/>
              <a:t>All connected using BeneID and Provider.</a:t>
            </a:r>
          </a:p>
        </p:txBody>
      </p:sp>
      <p:sp>
        <p:nvSpPr>
          <p:cNvPr id="4" name="TextBox 3">
            <a:extLst>
              <a:ext uri="{FF2B5EF4-FFF2-40B4-BE49-F238E27FC236}">
                <a16:creationId xmlns:a16="http://schemas.microsoft.com/office/drawing/2014/main" id="{BF83C35D-8609-F49A-7F47-10168EF6A8DF}"/>
              </a:ext>
            </a:extLst>
          </p:cNvPr>
          <p:cNvSpPr txBox="1"/>
          <p:nvPr/>
        </p:nvSpPr>
        <p:spPr>
          <a:xfrm>
            <a:off x="6096000" y="2014194"/>
            <a:ext cx="5691554" cy="3170099"/>
          </a:xfrm>
          <a:prstGeom prst="rect">
            <a:avLst/>
          </a:prstGeom>
          <a:noFill/>
        </p:spPr>
        <p:txBody>
          <a:bodyPr wrap="square" rtlCol="0">
            <a:spAutoFit/>
          </a:bodyPr>
          <a:lstStyle/>
          <a:p>
            <a:r>
              <a:rPr lang="en-US" sz="2000" dirty="0"/>
              <a:t>The datasets have three levels:</a:t>
            </a:r>
          </a:p>
          <a:p>
            <a:endParaRPr lang="en-US" sz="2000" dirty="0"/>
          </a:p>
          <a:p>
            <a:pPr marL="342900" indent="-342900">
              <a:buFont typeface="+mj-lt"/>
              <a:buAutoNum type="arabicPeriod"/>
            </a:pPr>
            <a:r>
              <a:rPr lang="en-US" sz="2000" dirty="0"/>
              <a:t>Beneficiary-level (patient info)</a:t>
            </a:r>
          </a:p>
          <a:p>
            <a:pPr marL="342900" indent="-342900">
              <a:buFont typeface="+mj-lt"/>
              <a:buAutoNum type="arabicPeriod"/>
            </a:pPr>
            <a:endParaRPr lang="en-US" sz="2000" dirty="0"/>
          </a:p>
          <a:p>
            <a:pPr marL="342900" indent="-342900">
              <a:buFont typeface="+mj-lt"/>
              <a:buAutoNum type="arabicPeriod"/>
            </a:pPr>
            <a:r>
              <a:rPr lang="en-US" sz="2000" dirty="0"/>
              <a:t>Claim-level (each visit/procedure)</a:t>
            </a:r>
          </a:p>
          <a:p>
            <a:pPr marL="342900" indent="-342900">
              <a:buFont typeface="+mj-lt"/>
              <a:buAutoNum type="arabicPeriod"/>
            </a:pPr>
            <a:endParaRPr lang="en-US" sz="2000" dirty="0"/>
          </a:p>
          <a:p>
            <a:pPr marL="342900" indent="-342900">
              <a:buFont typeface="+mj-lt"/>
              <a:buAutoNum type="arabicPeriod"/>
            </a:pPr>
            <a:r>
              <a:rPr lang="en-US" sz="2000" dirty="0"/>
              <a:t>Provider-level (final prediction)</a:t>
            </a:r>
          </a:p>
          <a:p>
            <a:pPr marL="342900" indent="-342900">
              <a:buFont typeface="+mj-lt"/>
              <a:buAutoNum type="arabicPeriod"/>
            </a:pPr>
            <a:endParaRPr lang="en-US" sz="2000" dirty="0"/>
          </a:p>
          <a:p>
            <a:r>
              <a:rPr lang="en-US" sz="2000" dirty="0"/>
              <a:t>Since fraud prediction is done per provider, we need to aggregate claims up to provider level</a:t>
            </a:r>
          </a:p>
        </p:txBody>
      </p:sp>
    </p:spTree>
    <p:extLst>
      <p:ext uri="{BB962C8B-B14F-4D97-AF65-F5344CB8AC3E}">
        <p14:creationId xmlns:p14="http://schemas.microsoft.com/office/powerpoint/2010/main" val="1439852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F62F3-721A-31F4-C55F-D37DBDC6F309}"/>
              </a:ext>
            </a:extLst>
          </p:cNvPr>
          <p:cNvSpPr>
            <a:spLocks noGrp="1"/>
          </p:cNvSpPr>
          <p:nvPr>
            <p:ph type="title"/>
          </p:nvPr>
        </p:nvSpPr>
        <p:spPr/>
        <p:txBody>
          <a:bodyPr/>
          <a:lstStyle/>
          <a:p>
            <a:r>
              <a:rPr lang="en-US" dirty="0"/>
              <a:t>Data Quality checks:</a:t>
            </a:r>
          </a:p>
        </p:txBody>
      </p:sp>
      <p:sp>
        <p:nvSpPr>
          <p:cNvPr id="3" name="Content Placeholder 2">
            <a:extLst>
              <a:ext uri="{FF2B5EF4-FFF2-40B4-BE49-F238E27FC236}">
                <a16:creationId xmlns:a16="http://schemas.microsoft.com/office/drawing/2014/main" id="{77ADD9ED-99C0-0D72-37D0-58961C61522E}"/>
              </a:ext>
            </a:extLst>
          </p:cNvPr>
          <p:cNvSpPr>
            <a:spLocks noGrp="1"/>
          </p:cNvSpPr>
          <p:nvPr>
            <p:ph idx="1"/>
          </p:nvPr>
        </p:nvSpPr>
        <p:spPr/>
        <p:txBody>
          <a:bodyPr>
            <a:normAutofit/>
          </a:bodyPr>
          <a:lstStyle/>
          <a:p>
            <a:pPr marL="0" indent="0">
              <a:buNone/>
            </a:pPr>
            <a:r>
              <a:rPr lang="en-US" sz="2400" dirty="0"/>
              <a:t>We checked for:</a:t>
            </a:r>
          </a:p>
          <a:p>
            <a:r>
              <a:rPr lang="en-US" sz="2400" dirty="0"/>
              <a:t>Missing values in chronic conditions and payment fields</a:t>
            </a:r>
          </a:p>
          <a:p>
            <a:r>
              <a:rPr lang="en-US" sz="2400" dirty="0"/>
              <a:t>Duplicated entries</a:t>
            </a:r>
          </a:p>
          <a:p>
            <a:r>
              <a:rPr lang="en-US" sz="2400" dirty="0"/>
              <a:t>Outliers in reimbursement amounts</a:t>
            </a:r>
          </a:p>
          <a:p>
            <a:r>
              <a:rPr lang="en-US" sz="2400" dirty="0"/>
              <a:t>Inconsistencies between inpatient and outpatient claims</a:t>
            </a:r>
          </a:p>
          <a:p>
            <a:endParaRPr lang="en-US" sz="2400" dirty="0"/>
          </a:p>
          <a:p>
            <a:pPr marL="0" indent="0">
              <a:buNone/>
            </a:pPr>
            <a:r>
              <a:rPr lang="en-US" sz="2400" dirty="0"/>
              <a:t>They help us decide what preprocessing steps were required.</a:t>
            </a:r>
          </a:p>
        </p:txBody>
      </p:sp>
    </p:spTree>
    <p:extLst>
      <p:ext uri="{BB962C8B-B14F-4D97-AF65-F5344CB8AC3E}">
        <p14:creationId xmlns:p14="http://schemas.microsoft.com/office/powerpoint/2010/main" val="2472336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06375-3B6D-AE1B-B631-EDA8B948257F}"/>
              </a:ext>
            </a:extLst>
          </p:cNvPr>
          <p:cNvSpPr>
            <a:spLocks noGrp="1"/>
          </p:cNvSpPr>
          <p:nvPr>
            <p:ph type="title"/>
          </p:nvPr>
        </p:nvSpPr>
        <p:spPr/>
        <p:txBody>
          <a:bodyPr/>
          <a:lstStyle/>
          <a:p>
            <a:r>
              <a:rPr lang="en-US" dirty="0"/>
              <a:t>Data Observations:</a:t>
            </a:r>
          </a:p>
        </p:txBody>
      </p:sp>
      <p:sp>
        <p:nvSpPr>
          <p:cNvPr id="3" name="Content Placeholder 2">
            <a:extLst>
              <a:ext uri="{FF2B5EF4-FFF2-40B4-BE49-F238E27FC236}">
                <a16:creationId xmlns:a16="http://schemas.microsoft.com/office/drawing/2014/main" id="{543E278E-A8AA-D740-4E0B-1F3BEE7DCE8F}"/>
              </a:ext>
            </a:extLst>
          </p:cNvPr>
          <p:cNvSpPr>
            <a:spLocks noGrp="1"/>
          </p:cNvSpPr>
          <p:nvPr>
            <p:ph idx="1"/>
          </p:nvPr>
        </p:nvSpPr>
        <p:spPr/>
        <p:txBody>
          <a:bodyPr>
            <a:normAutofit/>
          </a:bodyPr>
          <a:lstStyle/>
          <a:p>
            <a:pPr marL="0" indent="0">
              <a:buNone/>
            </a:pPr>
            <a:r>
              <a:rPr lang="en-US" sz="2000" dirty="0"/>
              <a:t>Before modeling, we noticed:</a:t>
            </a:r>
          </a:p>
          <a:p>
            <a:r>
              <a:rPr lang="en-US" sz="2000" dirty="0"/>
              <a:t>Some providers submit far more claims than others</a:t>
            </a:r>
          </a:p>
          <a:p>
            <a:r>
              <a:rPr lang="en-US" sz="2000" dirty="0"/>
              <a:t>Claim amounts vary widely, especially with inpatient claims</a:t>
            </a:r>
          </a:p>
          <a:p>
            <a:r>
              <a:rPr lang="en-US" sz="2000" dirty="0"/>
              <a:t>Some features have noticeable skew/outliers</a:t>
            </a:r>
          </a:p>
          <a:p>
            <a:r>
              <a:rPr lang="en-US" sz="2000" dirty="0"/>
              <a:t>Beneficiary ages range widely, affecting average provider age</a:t>
            </a:r>
          </a:p>
          <a:p>
            <a:endParaRPr lang="en-US" sz="2000" dirty="0"/>
          </a:p>
          <a:p>
            <a:pPr marL="0" indent="0">
              <a:buNone/>
            </a:pPr>
            <a:r>
              <a:rPr lang="en-US" sz="2000" dirty="0"/>
              <a:t>These influenced how we engineered features</a:t>
            </a:r>
          </a:p>
        </p:txBody>
      </p:sp>
    </p:spTree>
    <p:extLst>
      <p:ext uri="{BB962C8B-B14F-4D97-AF65-F5344CB8AC3E}">
        <p14:creationId xmlns:p14="http://schemas.microsoft.com/office/powerpoint/2010/main" val="3928679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68A31B16-A389-6CEA-DDDA-C7C30470F928}"/>
              </a:ext>
            </a:extLst>
          </p:cNvPr>
          <p:cNvPicPr>
            <a:picLocks noGrp="1" noChangeAspect="1"/>
          </p:cNvPicPr>
          <p:nvPr>
            <p:ph type="pic" idx="1"/>
          </p:nvPr>
        </p:nvPicPr>
        <p:blipFill>
          <a:blip r:embed="rId2"/>
          <a:srcRect l="3025" t="1969" r="3025"/>
          <a:stretch>
            <a:fillRect/>
          </a:stretch>
        </p:blipFill>
        <p:spPr>
          <a:xfrm>
            <a:off x="228599" y="363414"/>
            <a:ext cx="7696201" cy="6256841"/>
          </a:xfrm>
        </p:spPr>
      </p:pic>
      <p:sp>
        <p:nvSpPr>
          <p:cNvPr id="3" name="Title 2">
            <a:extLst>
              <a:ext uri="{FF2B5EF4-FFF2-40B4-BE49-F238E27FC236}">
                <a16:creationId xmlns:a16="http://schemas.microsoft.com/office/drawing/2014/main" id="{D1A5371A-2F13-89E1-9593-0F309E2C9FC5}"/>
              </a:ext>
            </a:extLst>
          </p:cNvPr>
          <p:cNvSpPr>
            <a:spLocks noGrp="1"/>
          </p:cNvSpPr>
          <p:nvPr>
            <p:ph type="title"/>
          </p:nvPr>
        </p:nvSpPr>
        <p:spPr/>
        <p:txBody>
          <a:bodyPr/>
          <a:lstStyle/>
          <a:p>
            <a:r>
              <a:rPr lang="en-US" dirty="0"/>
              <a:t>Fraud vs Non-Fraud: Class Distribution</a:t>
            </a:r>
          </a:p>
        </p:txBody>
      </p:sp>
      <p:sp>
        <p:nvSpPr>
          <p:cNvPr id="4" name="Text Placeholder 3">
            <a:extLst>
              <a:ext uri="{FF2B5EF4-FFF2-40B4-BE49-F238E27FC236}">
                <a16:creationId xmlns:a16="http://schemas.microsoft.com/office/drawing/2014/main" id="{0A158890-664C-DEE2-B4EF-BE2939160849}"/>
              </a:ext>
            </a:extLst>
          </p:cNvPr>
          <p:cNvSpPr>
            <a:spLocks noGrp="1"/>
          </p:cNvSpPr>
          <p:nvPr>
            <p:ph type="body" sz="half" idx="2"/>
          </p:nvPr>
        </p:nvSpPr>
        <p:spPr/>
        <p:txBody>
          <a:bodyPr>
            <a:normAutofit/>
          </a:bodyPr>
          <a:lstStyle/>
          <a:p>
            <a:r>
              <a:rPr lang="en-US" sz="2000" dirty="0"/>
              <a:t>Fraud cases are only around 10% of all providers. This severe imbalance affects model training because the majority class dominates.</a:t>
            </a:r>
          </a:p>
        </p:txBody>
      </p:sp>
    </p:spTree>
    <p:extLst>
      <p:ext uri="{BB962C8B-B14F-4D97-AF65-F5344CB8AC3E}">
        <p14:creationId xmlns:p14="http://schemas.microsoft.com/office/powerpoint/2010/main" val="281611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80C69121-6E80-9453-CA5E-B24F21FB515F}"/>
              </a:ext>
            </a:extLst>
          </p:cNvPr>
          <p:cNvPicPr>
            <a:picLocks noGrp="1" noChangeAspect="1"/>
          </p:cNvPicPr>
          <p:nvPr>
            <p:ph type="pic" idx="1"/>
          </p:nvPr>
        </p:nvPicPr>
        <p:blipFill>
          <a:blip r:embed="rId2"/>
          <a:srcRect l="11395" r="11395"/>
          <a:stretch>
            <a:fillRect/>
          </a:stretch>
        </p:blipFill>
        <p:spPr>
          <a:xfrm>
            <a:off x="87922" y="331528"/>
            <a:ext cx="7696201" cy="6382512"/>
          </a:xfrm>
        </p:spPr>
      </p:pic>
      <p:sp>
        <p:nvSpPr>
          <p:cNvPr id="3" name="Title 2">
            <a:extLst>
              <a:ext uri="{FF2B5EF4-FFF2-40B4-BE49-F238E27FC236}">
                <a16:creationId xmlns:a16="http://schemas.microsoft.com/office/drawing/2014/main" id="{ED3E4EBF-1109-1F39-E46E-98B946CF1F35}"/>
              </a:ext>
            </a:extLst>
          </p:cNvPr>
          <p:cNvSpPr>
            <a:spLocks noGrp="1"/>
          </p:cNvSpPr>
          <p:nvPr>
            <p:ph type="title"/>
          </p:nvPr>
        </p:nvSpPr>
        <p:spPr/>
        <p:txBody>
          <a:bodyPr/>
          <a:lstStyle/>
          <a:p>
            <a:r>
              <a:rPr lang="en-US" dirty="0"/>
              <a:t>Reimbursement behaviour across providers</a:t>
            </a:r>
          </a:p>
        </p:txBody>
      </p:sp>
      <p:sp>
        <p:nvSpPr>
          <p:cNvPr id="4" name="Text Placeholder 3">
            <a:extLst>
              <a:ext uri="{FF2B5EF4-FFF2-40B4-BE49-F238E27FC236}">
                <a16:creationId xmlns:a16="http://schemas.microsoft.com/office/drawing/2014/main" id="{00C37A00-2ACE-F87D-1353-1A61828AF2B7}"/>
              </a:ext>
            </a:extLst>
          </p:cNvPr>
          <p:cNvSpPr>
            <a:spLocks noGrp="1"/>
          </p:cNvSpPr>
          <p:nvPr>
            <p:ph type="body" sz="half" idx="2"/>
          </p:nvPr>
        </p:nvSpPr>
        <p:spPr/>
        <p:txBody>
          <a:bodyPr>
            <a:normAutofit lnSpcReduction="10000"/>
          </a:bodyPr>
          <a:lstStyle/>
          <a:p>
            <a:r>
              <a:rPr lang="en-US" dirty="0"/>
              <a:t>We plotted the average reimbursement amount per claim. From observation, most providers fall in a typical range, but there is a long tail of providers with very high average reimbursement amounts. These extremes may indicate unusual financial behaviour.</a:t>
            </a:r>
          </a:p>
        </p:txBody>
      </p:sp>
    </p:spTree>
    <p:extLst>
      <p:ext uri="{BB962C8B-B14F-4D97-AF65-F5344CB8AC3E}">
        <p14:creationId xmlns:p14="http://schemas.microsoft.com/office/powerpoint/2010/main" val="3662326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184D8223-B050-B187-9EE3-EEA02497B5CA}"/>
              </a:ext>
            </a:extLst>
          </p:cNvPr>
          <p:cNvPicPr>
            <a:picLocks noGrp="1" noChangeAspect="1"/>
          </p:cNvPicPr>
          <p:nvPr>
            <p:ph type="pic" idx="1"/>
          </p:nvPr>
        </p:nvPicPr>
        <p:blipFill>
          <a:blip r:embed="rId2"/>
          <a:srcRect l="15326" r="15326"/>
          <a:stretch>
            <a:fillRect/>
          </a:stretch>
        </p:blipFill>
        <p:spPr/>
      </p:pic>
      <p:sp>
        <p:nvSpPr>
          <p:cNvPr id="3" name="Title 2">
            <a:extLst>
              <a:ext uri="{FF2B5EF4-FFF2-40B4-BE49-F238E27FC236}">
                <a16:creationId xmlns:a16="http://schemas.microsoft.com/office/drawing/2014/main" id="{D9874FB1-7157-4E06-9072-F8E115C6F2B6}"/>
              </a:ext>
            </a:extLst>
          </p:cNvPr>
          <p:cNvSpPr>
            <a:spLocks noGrp="1"/>
          </p:cNvSpPr>
          <p:nvPr>
            <p:ph type="title"/>
          </p:nvPr>
        </p:nvSpPr>
        <p:spPr>
          <a:xfrm>
            <a:off x="8477249" y="634453"/>
            <a:ext cx="3163765" cy="1052263"/>
          </a:xfrm>
        </p:spPr>
        <p:txBody>
          <a:bodyPr/>
          <a:lstStyle/>
          <a:p>
            <a:r>
              <a:rPr lang="en-US" dirty="0"/>
              <a:t>Provider-level feature spread</a:t>
            </a:r>
          </a:p>
        </p:txBody>
      </p:sp>
      <p:sp>
        <p:nvSpPr>
          <p:cNvPr id="4" name="Text Placeholder 3">
            <a:extLst>
              <a:ext uri="{FF2B5EF4-FFF2-40B4-BE49-F238E27FC236}">
                <a16:creationId xmlns:a16="http://schemas.microsoft.com/office/drawing/2014/main" id="{C702ED34-F0FC-D950-FD78-C1E7334FEC9B}"/>
              </a:ext>
            </a:extLst>
          </p:cNvPr>
          <p:cNvSpPr>
            <a:spLocks noGrp="1"/>
          </p:cNvSpPr>
          <p:nvPr>
            <p:ph type="body" sz="half" idx="2"/>
          </p:nvPr>
        </p:nvSpPr>
        <p:spPr>
          <a:xfrm>
            <a:off x="8477249" y="1800431"/>
            <a:ext cx="3257551" cy="3768031"/>
          </a:xfrm>
        </p:spPr>
        <p:txBody>
          <a:bodyPr>
            <a:noAutofit/>
          </a:bodyPr>
          <a:lstStyle/>
          <a:p>
            <a:r>
              <a:rPr lang="en-US" sz="2000" dirty="0"/>
              <a:t>We examined aggregated provider metrics:</a:t>
            </a:r>
          </a:p>
          <a:p>
            <a:pPr marL="285750" indent="-285750">
              <a:buFont typeface="Arial" panose="020B0604020202020204" pitchFamily="34" charset="0"/>
              <a:buChar char="•"/>
            </a:pPr>
            <a:r>
              <a:rPr lang="en-US" sz="2000" dirty="0"/>
              <a:t>Total claims submitted</a:t>
            </a:r>
          </a:p>
          <a:p>
            <a:pPr marL="285750" indent="-285750">
              <a:buFont typeface="Arial" panose="020B0604020202020204" pitchFamily="34" charset="0"/>
              <a:buChar char="•"/>
            </a:pPr>
            <a:r>
              <a:rPr lang="en-US" sz="2000" dirty="0"/>
              <a:t>Total reimbursed amount</a:t>
            </a:r>
          </a:p>
          <a:p>
            <a:pPr marL="285750" indent="-285750">
              <a:buFont typeface="Arial" panose="020B0604020202020204" pitchFamily="34" charset="0"/>
              <a:buChar char="•"/>
            </a:pPr>
            <a:r>
              <a:rPr lang="en-US" sz="2000" dirty="0"/>
              <a:t>Average age of beneficiaries per provider</a:t>
            </a:r>
          </a:p>
          <a:p>
            <a:pPr marL="285750" indent="-285750">
              <a:buFont typeface="Arial" panose="020B0604020202020204" pitchFamily="34" charset="0"/>
              <a:buChar char="•"/>
            </a:pPr>
            <a:endParaRPr lang="en-US" sz="2000" dirty="0"/>
          </a:p>
          <a:p>
            <a:r>
              <a:rPr lang="en-US" sz="2000" dirty="0"/>
              <a:t>Boxplots show a lot of variation and several outliers, which are important to keep in mind during modeling.</a:t>
            </a:r>
          </a:p>
        </p:txBody>
      </p:sp>
    </p:spTree>
    <p:extLst>
      <p:ext uri="{BB962C8B-B14F-4D97-AF65-F5344CB8AC3E}">
        <p14:creationId xmlns:p14="http://schemas.microsoft.com/office/powerpoint/2010/main" val="2056811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23D5C-68D2-385B-469C-B858876D7682}"/>
              </a:ext>
            </a:extLst>
          </p:cNvPr>
          <p:cNvSpPr>
            <a:spLocks noGrp="1"/>
          </p:cNvSpPr>
          <p:nvPr>
            <p:ph type="title"/>
          </p:nvPr>
        </p:nvSpPr>
        <p:spPr/>
        <p:txBody>
          <a:bodyPr/>
          <a:lstStyle/>
          <a:p>
            <a:r>
              <a:rPr lang="en-US" dirty="0"/>
              <a:t>Why aggregation was essential</a:t>
            </a:r>
          </a:p>
        </p:txBody>
      </p:sp>
      <p:sp>
        <p:nvSpPr>
          <p:cNvPr id="3" name="Content Placeholder 2">
            <a:extLst>
              <a:ext uri="{FF2B5EF4-FFF2-40B4-BE49-F238E27FC236}">
                <a16:creationId xmlns:a16="http://schemas.microsoft.com/office/drawing/2014/main" id="{04655B6A-C41E-DCC5-57B6-A258BCA5B6A7}"/>
              </a:ext>
            </a:extLst>
          </p:cNvPr>
          <p:cNvSpPr>
            <a:spLocks noGrp="1"/>
          </p:cNvSpPr>
          <p:nvPr>
            <p:ph idx="1"/>
          </p:nvPr>
        </p:nvSpPr>
        <p:spPr/>
        <p:txBody>
          <a:bodyPr>
            <a:normAutofit/>
          </a:bodyPr>
          <a:lstStyle/>
          <a:p>
            <a:pPr marL="0" indent="0">
              <a:buNone/>
            </a:pPr>
            <a:r>
              <a:rPr lang="en-US" sz="2000" dirty="0"/>
              <a:t>Since each provider has many patients and many claims:</a:t>
            </a:r>
          </a:p>
          <a:p>
            <a:r>
              <a:rPr lang="en-US" sz="2000" dirty="0"/>
              <a:t>Claim-level data is too granular</a:t>
            </a:r>
          </a:p>
          <a:p>
            <a:r>
              <a:rPr lang="en-US" sz="2000" dirty="0"/>
              <a:t>Provider-level predictions require a single feature row per provider</a:t>
            </a:r>
          </a:p>
          <a:p>
            <a:r>
              <a:rPr lang="en-US" sz="2000" dirty="0"/>
              <a:t>Aggregation allows us to summarize behavior and detect patterns</a:t>
            </a:r>
          </a:p>
          <a:p>
            <a:endParaRPr lang="en-US" sz="2000" dirty="0"/>
          </a:p>
          <a:p>
            <a:pPr marL="0" indent="0">
              <a:buNone/>
            </a:pPr>
            <a:r>
              <a:rPr lang="en-US" sz="2000" dirty="0"/>
              <a:t>Without aggregation, training would be impossible.</a:t>
            </a:r>
          </a:p>
        </p:txBody>
      </p:sp>
    </p:spTree>
    <p:extLst>
      <p:ext uri="{BB962C8B-B14F-4D97-AF65-F5344CB8AC3E}">
        <p14:creationId xmlns:p14="http://schemas.microsoft.com/office/powerpoint/2010/main" val="2029814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3D914-2179-F9C5-8B3F-FE6D95620285}"/>
              </a:ext>
            </a:extLst>
          </p:cNvPr>
          <p:cNvSpPr>
            <a:spLocks noGrp="1"/>
          </p:cNvSpPr>
          <p:nvPr>
            <p:ph type="title"/>
          </p:nvPr>
        </p:nvSpPr>
        <p:spPr>
          <a:xfrm>
            <a:off x="1066800" y="904875"/>
            <a:ext cx="10058400" cy="1371600"/>
          </a:xfrm>
        </p:spPr>
        <p:txBody>
          <a:bodyPr/>
          <a:lstStyle/>
          <a:p>
            <a:r>
              <a:rPr lang="en-US" dirty="0"/>
              <a:t>What Features We Engineered:</a:t>
            </a:r>
          </a:p>
        </p:txBody>
      </p:sp>
      <p:graphicFrame>
        <p:nvGraphicFramePr>
          <p:cNvPr id="4" name="Content Placeholder 3">
            <a:extLst>
              <a:ext uri="{FF2B5EF4-FFF2-40B4-BE49-F238E27FC236}">
                <a16:creationId xmlns:a16="http://schemas.microsoft.com/office/drawing/2014/main" id="{A244DDEB-1F62-2778-D438-68204C6430AA}"/>
              </a:ext>
            </a:extLst>
          </p:cNvPr>
          <p:cNvGraphicFramePr>
            <a:graphicFrameLocks noGrp="1"/>
          </p:cNvGraphicFramePr>
          <p:nvPr>
            <p:ph idx="1"/>
            <p:extLst>
              <p:ext uri="{D42A27DB-BD31-4B8C-83A1-F6EECF244321}">
                <p14:modId xmlns:p14="http://schemas.microsoft.com/office/powerpoint/2010/main" val="1915527309"/>
              </p:ext>
            </p:extLst>
          </p:nvPr>
        </p:nvGraphicFramePr>
        <p:xfrm>
          <a:off x="1066800" y="2103438"/>
          <a:ext cx="10058400" cy="38496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4376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09420-6FAB-F70E-20BC-80201735A993}"/>
              </a:ext>
            </a:extLst>
          </p:cNvPr>
          <p:cNvSpPr>
            <a:spLocks noGrp="1"/>
          </p:cNvSpPr>
          <p:nvPr>
            <p:ph type="title"/>
          </p:nvPr>
        </p:nvSpPr>
        <p:spPr/>
        <p:txBody>
          <a:bodyPr>
            <a:normAutofit fontScale="90000"/>
          </a:bodyPr>
          <a:lstStyle/>
          <a:p>
            <a:r>
              <a:rPr lang="en-US" dirty="0"/>
              <a:t>Insights after aggregation</a:t>
            </a:r>
            <a:br>
              <a:rPr lang="en-US" dirty="0"/>
            </a:br>
            <a:br>
              <a:rPr lang="en-US" dirty="0"/>
            </a:br>
            <a:r>
              <a:rPr lang="en-US" sz="2200" dirty="0"/>
              <a:t>Comparing aggregated metrics between fraud and non-fraud providers:</a:t>
            </a:r>
          </a:p>
        </p:txBody>
      </p:sp>
      <p:graphicFrame>
        <p:nvGraphicFramePr>
          <p:cNvPr id="4" name="Content Placeholder 3">
            <a:extLst>
              <a:ext uri="{FF2B5EF4-FFF2-40B4-BE49-F238E27FC236}">
                <a16:creationId xmlns:a16="http://schemas.microsoft.com/office/drawing/2014/main" id="{18747E8C-43CB-D40C-132D-768DF29AE0DD}"/>
              </a:ext>
            </a:extLst>
          </p:cNvPr>
          <p:cNvGraphicFramePr>
            <a:graphicFrameLocks noGrp="1"/>
          </p:cNvGraphicFramePr>
          <p:nvPr>
            <p:ph idx="1"/>
            <p:extLst>
              <p:ext uri="{D42A27DB-BD31-4B8C-83A1-F6EECF244321}">
                <p14:modId xmlns:p14="http://schemas.microsoft.com/office/powerpoint/2010/main" val="3928448093"/>
              </p:ext>
            </p:extLst>
          </p:nvPr>
        </p:nvGraphicFramePr>
        <p:xfrm>
          <a:off x="1066800" y="2103438"/>
          <a:ext cx="10058400" cy="38496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96094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54895-9171-41B5-255A-151675A4DB6F}"/>
              </a:ext>
            </a:extLst>
          </p:cNvPr>
          <p:cNvSpPr>
            <a:spLocks noGrp="1"/>
          </p:cNvSpPr>
          <p:nvPr>
            <p:ph type="title"/>
          </p:nvPr>
        </p:nvSpPr>
        <p:spPr/>
        <p:txBody>
          <a:bodyPr/>
          <a:lstStyle/>
          <a:p>
            <a:r>
              <a:rPr lang="en-US" dirty="0"/>
              <a:t>The Class Imbalance Issue</a:t>
            </a:r>
          </a:p>
        </p:txBody>
      </p:sp>
      <p:sp>
        <p:nvSpPr>
          <p:cNvPr id="3" name="Content Placeholder 2">
            <a:extLst>
              <a:ext uri="{FF2B5EF4-FFF2-40B4-BE49-F238E27FC236}">
                <a16:creationId xmlns:a16="http://schemas.microsoft.com/office/drawing/2014/main" id="{E9DC8B20-9F80-F9D5-B9A8-60A35C8D3806}"/>
              </a:ext>
            </a:extLst>
          </p:cNvPr>
          <p:cNvSpPr>
            <a:spLocks noGrp="1"/>
          </p:cNvSpPr>
          <p:nvPr>
            <p:ph idx="1"/>
          </p:nvPr>
        </p:nvSpPr>
        <p:spPr/>
        <p:txBody>
          <a:bodyPr>
            <a:normAutofit/>
          </a:bodyPr>
          <a:lstStyle/>
          <a:p>
            <a:r>
              <a:rPr lang="en-US" sz="2000" dirty="0"/>
              <a:t>Since fraud is rare (around 10%), a model could easily achieve high accuracy by always prediction “not fraud”. We needed techniques to ensure the model learns the minority class clearly</a:t>
            </a:r>
          </a:p>
        </p:txBody>
      </p:sp>
    </p:spTree>
    <p:extLst>
      <p:ext uri="{BB962C8B-B14F-4D97-AF65-F5344CB8AC3E}">
        <p14:creationId xmlns:p14="http://schemas.microsoft.com/office/powerpoint/2010/main" val="1496643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AACB3-F081-2342-01C2-D11FC1F46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8E7AC6-915D-F5B2-F6D3-6078DBCEFFDA}"/>
              </a:ext>
            </a:extLst>
          </p:cNvPr>
          <p:cNvSpPr>
            <a:spLocks noGrp="1"/>
          </p:cNvSpPr>
          <p:nvPr>
            <p:ph type="title"/>
          </p:nvPr>
        </p:nvSpPr>
        <p:spPr>
          <a:xfrm>
            <a:off x="1066800" y="642594"/>
            <a:ext cx="10058400" cy="1371600"/>
          </a:xfrm>
        </p:spPr>
        <p:txBody>
          <a:bodyPr>
            <a:normAutofit/>
          </a:bodyPr>
          <a:lstStyle/>
          <a:p>
            <a:pPr algn="ctr"/>
            <a:r>
              <a:rPr lang="en-US" dirty="0"/>
              <a:t>How we handled imbalance</a:t>
            </a:r>
          </a:p>
        </p:txBody>
      </p:sp>
      <p:graphicFrame>
        <p:nvGraphicFramePr>
          <p:cNvPr id="5" name="Content Placeholder 2" descr="SmartArt Process Diagram">
            <a:extLst>
              <a:ext uri="{FF2B5EF4-FFF2-40B4-BE49-F238E27FC236}">
                <a16:creationId xmlns:a16="http://schemas.microsoft.com/office/drawing/2014/main" id="{CE2003C3-9CA6-778D-DD8D-9D2E38BDD5E9}"/>
              </a:ext>
            </a:extLst>
          </p:cNvPr>
          <p:cNvGraphicFramePr>
            <a:graphicFrameLocks noGrp="1"/>
          </p:cNvGraphicFramePr>
          <p:nvPr>
            <p:ph idx="1"/>
            <p:extLst>
              <p:ext uri="{D42A27DB-BD31-4B8C-83A1-F6EECF244321}">
                <p14:modId xmlns:p14="http://schemas.microsoft.com/office/powerpoint/2010/main" val="3371360358"/>
              </p:ext>
            </p:extLst>
          </p:nvPr>
        </p:nvGraphicFramePr>
        <p:xfrm>
          <a:off x="1066800" y="1466001"/>
          <a:ext cx="10058400" cy="37256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AB4704DC-6235-27D7-1049-FE438DE62842}"/>
              </a:ext>
            </a:extLst>
          </p:cNvPr>
          <p:cNvSpPr txBox="1"/>
          <p:nvPr/>
        </p:nvSpPr>
        <p:spPr>
          <a:xfrm>
            <a:off x="1066800" y="5191613"/>
            <a:ext cx="6963508" cy="707886"/>
          </a:xfrm>
          <a:prstGeom prst="rect">
            <a:avLst/>
          </a:prstGeom>
          <a:noFill/>
        </p:spPr>
        <p:txBody>
          <a:bodyPr wrap="square" rtlCol="0">
            <a:spAutoFit/>
          </a:bodyPr>
          <a:lstStyle/>
          <a:p>
            <a:r>
              <a:rPr lang="en-US" sz="2000" dirty="0"/>
              <a:t>Final approach: SMOTE + class weighting.</a:t>
            </a:r>
            <a:br>
              <a:rPr lang="en-US" sz="2000" dirty="0"/>
            </a:br>
            <a:r>
              <a:rPr lang="en-US" sz="2000" dirty="0"/>
              <a:t>It improves recall while maintaining reasonable precision</a:t>
            </a:r>
          </a:p>
        </p:txBody>
      </p:sp>
    </p:spTree>
    <p:extLst>
      <p:ext uri="{BB962C8B-B14F-4D97-AF65-F5344CB8AC3E}">
        <p14:creationId xmlns:p14="http://schemas.microsoft.com/office/powerpoint/2010/main" val="2470123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AA8B8-D1CD-E3E4-97DF-DE4F366E710A}"/>
              </a:ext>
            </a:extLst>
          </p:cNvPr>
          <p:cNvSpPr>
            <a:spLocks noGrp="1"/>
          </p:cNvSpPr>
          <p:nvPr>
            <p:ph type="title"/>
          </p:nvPr>
        </p:nvSpPr>
        <p:spPr/>
        <p:txBody>
          <a:bodyPr/>
          <a:lstStyle/>
          <a:p>
            <a:r>
              <a:rPr lang="en-US" dirty="0"/>
              <a:t>Algorithms Considered</a:t>
            </a:r>
          </a:p>
        </p:txBody>
      </p:sp>
      <p:sp>
        <p:nvSpPr>
          <p:cNvPr id="4" name="Rectangle 1">
            <a:extLst>
              <a:ext uri="{FF2B5EF4-FFF2-40B4-BE49-F238E27FC236}">
                <a16:creationId xmlns:a16="http://schemas.microsoft.com/office/drawing/2014/main" id="{A2957986-AFF3-4F5A-A259-6222A869281F}"/>
              </a:ext>
            </a:extLst>
          </p:cNvPr>
          <p:cNvSpPr>
            <a:spLocks noGrp="1" noChangeArrowheads="1"/>
          </p:cNvSpPr>
          <p:nvPr>
            <p:ph idx="1"/>
          </p:nvPr>
        </p:nvSpPr>
        <p:spPr bwMode="auto">
          <a:xfrm>
            <a:off x="1066800" y="2014194"/>
            <a:ext cx="9791463"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Linear/Logistic Regression – Simple, interpretable baseline.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Decision Trees – Capture non-linear patterns.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Random Forest – Ensemble method, reduces overfitting.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SVM – Good for classification with clear margins.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k-NN – Predicts based on nearest neighbors.</a:t>
            </a:r>
          </a:p>
        </p:txBody>
      </p:sp>
    </p:spTree>
    <p:extLst>
      <p:ext uri="{BB962C8B-B14F-4D97-AF65-F5344CB8AC3E}">
        <p14:creationId xmlns:p14="http://schemas.microsoft.com/office/powerpoint/2010/main" val="441827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31A7C-1E50-8088-80C5-E0AA8B62A85E}"/>
              </a:ext>
            </a:extLst>
          </p:cNvPr>
          <p:cNvSpPr>
            <a:spLocks noGrp="1"/>
          </p:cNvSpPr>
          <p:nvPr>
            <p:ph type="title"/>
          </p:nvPr>
        </p:nvSpPr>
        <p:spPr/>
        <p:txBody>
          <a:bodyPr/>
          <a:lstStyle/>
          <a:p>
            <a:r>
              <a:rPr lang="en-US" dirty="0"/>
              <a:t>Our model comparison will include:</a:t>
            </a:r>
          </a:p>
        </p:txBody>
      </p:sp>
      <p:sp>
        <p:nvSpPr>
          <p:cNvPr id="3" name="Content Placeholder 2">
            <a:extLst>
              <a:ext uri="{FF2B5EF4-FFF2-40B4-BE49-F238E27FC236}">
                <a16:creationId xmlns:a16="http://schemas.microsoft.com/office/drawing/2014/main" id="{E26BDD7E-13D1-4787-1427-61189DAB0E15}"/>
              </a:ext>
            </a:extLst>
          </p:cNvPr>
          <p:cNvSpPr>
            <a:spLocks noGrp="1"/>
          </p:cNvSpPr>
          <p:nvPr>
            <p:ph idx="1"/>
          </p:nvPr>
        </p:nvSpPr>
        <p:spPr/>
        <p:txBody>
          <a:bodyPr>
            <a:normAutofit/>
          </a:bodyPr>
          <a:lstStyle/>
          <a:p>
            <a:r>
              <a:rPr lang="en-US" sz="2400" dirty="0"/>
              <a:t>Logistic regression (baseline + interpretability)</a:t>
            </a:r>
          </a:p>
          <a:p>
            <a:endParaRPr lang="en-US" sz="2400" dirty="0"/>
          </a:p>
          <a:p>
            <a:r>
              <a:rPr lang="en-US" sz="2400" dirty="0"/>
              <a:t>Random forest (robust performance for mixed features)</a:t>
            </a:r>
          </a:p>
          <a:p>
            <a:endParaRPr lang="en-US" sz="2400" dirty="0"/>
          </a:p>
          <a:p>
            <a:r>
              <a:rPr lang="en-US" sz="2400" dirty="0"/>
              <a:t>Gradient boosting (usually high accuracy)</a:t>
            </a:r>
          </a:p>
          <a:p>
            <a:endParaRPr lang="en-US" sz="2400" dirty="0"/>
          </a:p>
          <a:p>
            <a:pPr marL="0" indent="0">
              <a:buNone/>
            </a:pPr>
            <a:endParaRPr lang="en-US" sz="2400" dirty="0"/>
          </a:p>
        </p:txBody>
      </p:sp>
    </p:spTree>
    <p:extLst>
      <p:ext uri="{BB962C8B-B14F-4D97-AF65-F5344CB8AC3E}">
        <p14:creationId xmlns:p14="http://schemas.microsoft.com/office/powerpoint/2010/main" val="553161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2E097-3491-7CFD-6A97-04FB4B3DEABF}"/>
              </a:ext>
            </a:extLst>
          </p:cNvPr>
          <p:cNvSpPr>
            <a:spLocks noGrp="1"/>
          </p:cNvSpPr>
          <p:nvPr>
            <p:ph type="title"/>
          </p:nvPr>
        </p:nvSpPr>
        <p:spPr/>
        <p:txBody>
          <a:bodyPr/>
          <a:lstStyle/>
          <a:p>
            <a:r>
              <a:rPr lang="en-US" dirty="0"/>
              <a:t>Evaluating the models</a:t>
            </a:r>
          </a:p>
        </p:txBody>
      </p:sp>
      <p:sp>
        <p:nvSpPr>
          <p:cNvPr id="3" name="Content Placeholder 2">
            <a:extLst>
              <a:ext uri="{FF2B5EF4-FFF2-40B4-BE49-F238E27FC236}">
                <a16:creationId xmlns:a16="http://schemas.microsoft.com/office/drawing/2014/main" id="{D09691FD-D31C-2E65-B6A2-92AF32FC5CE0}"/>
              </a:ext>
            </a:extLst>
          </p:cNvPr>
          <p:cNvSpPr>
            <a:spLocks noGrp="1"/>
          </p:cNvSpPr>
          <p:nvPr>
            <p:ph idx="1"/>
          </p:nvPr>
        </p:nvSpPr>
        <p:spPr/>
        <p:txBody>
          <a:bodyPr>
            <a:normAutofit/>
          </a:bodyPr>
          <a:lstStyle/>
          <a:p>
            <a:r>
              <a:rPr lang="en-US" sz="2400" dirty="0"/>
              <a:t>We will use metrics suitable for imbalanced classification:</a:t>
            </a:r>
          </a:p>
          <a:p>
            <a:r>
              <a:rPr lang="en-US" sz="2400" dirty="0"/>
              <a:t>Precision (how many predicted frauds were correct)</a:t>
            </a:r>
          </a:p>
          <a:p>
            <a:r>
              <a:rPr lang="en-US" sz="2400" dirty="0"/>
              <a:t>Recall (how many actual frauds were caught)</a:t>
            </a:r>
          </a:p>
          <a:p>
            <a:r>
              <a:rPr lang="en-US" sz="2400" dirty="0"/>
              <a:t>F1-score</a:t>
            </a:r>
          </a:p>
          <a:p>
            <a:r>
              <a:rPr lang="en-US" sz="2400" dirty="0"/>
              <a:t>ROC-AUC</a:t>
            </a:r>
          </a:p>
          <a:p>
            <a:r>
              <a:rPr lang="en-US" sz="2400" dirty="0"/>
              <a:t>Precision-Recall AUC</a:t>
            </a:r>
          </a:p>
          <a:p>
            <a:r>
              <a:rPr lang="en-US" sz="2400" dirty="0"/>
              <a:t>Confusion matrix (for real-world impact)</a:t>
            </a:r>
          </a:p>
        </p:txBody>
      </p:sp>
    </p:spTree>
    <p:extLst>
      <p:ext uri="{BB962C8B-B14F-4D97-AF65-F5344CB8AC3E}">
        <p14:creationId xmlns:p14="http://schemas.microsoft.com/office/powerpoint/2010/main" val="183480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66516-F78E-AEBC-F446-A40A718E21F2}"/>
              </a:ext>
            </a:extLst>
          </p:cNvPr>
          <p:cNvSpPr>
            <a:spLocks noGrp="1"/>
          </p:cNvSpPr>
          <p:nvPr>
            <p:ph type="title"/>
          </p:nvPr>
        </p:nvSpPr>
        <p:spPr/>
        <p:txBody>
          <a:bodyPr/>
          <a:lstStyle/>
          <a:p>
            <a:r>
              <a:rPr lang="en-US" dirty="0"/>
              <a:t>Expected Model Strengths</a:t>
            </a:r>
          </a:p>
        </p:txBody>
      </p:sp>
      <p:sp>
        <p:nvSpPr>
          <p:cNvPr id="3" name="Content Placeholder 2">
            <a:extLst>
              <a:ext uri="{FF2B5EF4-FFF2-40B4-BE49-F238E27FC236}">
                <a16:creationId xmlns:a16="http://schemas.microsoft.com/office/drawing/2014/main" id="{B56AE7B4-3963-1F2E-5668-FC4B748DE5CC}"/>
              </a:ext>
            </a:extLst>
          </p:cNvPr>
          <p:cNvSpPr>
            <a:spLocks noGrp="1"/>
          </p:cNvSpPr>
          <p:nvPr>
            <p:ph idx="1"/>
          </p:nvPr>
        </p:nvSpPr>
        <p:spPr/>
        <p:txBody>
          <a:bodyPr>
            <a:normAutofit/>
          </a:bodyPr>
          <a:lstStyle/>
          <a:p>
            <a:r>
              <a:rPr lang="en-US" sz="2400" dirty="0"/>
              <a:t>Tree-based models often perform better on tabular data like claims. We expect random forest and gradient boosting to outperform logistic regression. We will compare their evaluation plots to choose the best</a:t>
            </a:r>
          </a:p>
        </p:txBody>
      </p:sp>
    </p:spTree>
    <p:extLst>
      <p:ext uri="{BB962C8B-B14F-4D97-AF65-F5344CB8AC3E}">
        <p14:creationId xmlns:p14="http://schemas.microsoft.com/office/powerpoint/2010/main" val="1725638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35094-0624-A37B-1ED0-245BD5BF4726}"/>
              </a:ext>
            </a:extLst>
          </p:cNvPr>
          <p:cNvSpPr>
            <a:spLocks noGrp="1"/>
          </p:cNvSpPr>
          <p:nvPr>
            <p:ph type="title"/>
          </p:nvPr>
        </p:nvSpPr>
        <p:spPr>
          <a:xfrm>
            <a:off x="1066800" y="754007"/>
            <a:ext cx="10058400" cy="1371600"/>
          </a:xfrm>
        </p:spPr>
        <p:txBody>
          <a:bodyPr>
            <a:normAutofit fontScale="90000"/>
          </a:bodyPr>
          <a:lstStyle/>
          <a:p>
            <a:r>
              <a:rPr lang="en-US" dirty="0"/>
              <a:t>Error Analysis: Why does it matter?</a:t>
            </a:r>
            <a:br>
              <a:rPr lang="en-US" dirty="0"/>
            </a:br>
            <a:br>
              <a:rPr lang="en-US" dirty="0"/>
            </a:br>
            <a:r>
              <a:rPr lang="en-US" sz="2400" dirty="0"/>
              <a:t>We will review:</a:t>
            </a:r>
          </a:p>
        </p:txBody>
      </p:sp>
      <p:sp>
        <p:nvSpPr>
          <p:cNvPr id="3" name="Text Placeholder 2">
            <a:extLst>
              <a:ext uri="{FF2B5EF4-FFF2-40B4-BE49-F238E27FC236}">
                <a16:creationId xmlns:a16="http://schemas.microsoft.com/office/drawing/2014/main" id="{F532CFB5-CBB3-5B82-6A35-41E2D153F16D}"/>
              </a:ext>
            </a:extLst>
          </p:cNvPr>
          <p:cNvSpPr>
            <a:spLocks noGrp="1"/>
          </p:cNvSpPr>
          <p:nvPr>
            <p:ph type="body" idx="1"/>
          </p:nvPr>
        </p:nvSpPr>
        <p:spPr/>
        <p:txBody>
          <a:bodyPr>
            <a:normAutofit/>
          </a:bodyPr>
          <a:lstStyle/>
          <a:p>
            <a:r>
              <a:rPr lang="en-US" sz="2400" dirty="0"/>
              <a:t>False Positives:</a:t>
            </a:r>
          </a:p>
        </p:txBody>
      </p:sp>
      <p:sp>
        <p:nvSpPr>
          <p:cNvPr id="4" name="Content Placeholder 3">
            <a:extLst>
              <a:ext uri="{FF2B5EF4-FFF2-40B4-BE49-F238E27FC236}">
                <a16:creationId xmlns:a16="http://schemas.microsoft.com/office/drawing/2014/main" id="{B3CF8CF2-E879-D2F8-694A-431D29A43A75}"/>
              </a:ext>
            </a:extLst>
          </p:cNvPr>
          <p:cNvSpPr>
            <a:spLocks noGrp="1"/>
          </p:cNvSpPr>
          <p:nvPr>
            <p:ph sz="half" idx="2"/>
          </p:nvPr>
        </p:nvSpPr>
        <p:spPr/>
        <p:txBody>
          <a:bodyPr>
            <a:normAutofit/>
          </a:bodyPr>
          <a:lstStyle/>
          <a:p>
            <a:r>
              <a:rPr lang="en-US" sz="2400" dirty="0"/>
              <a:t>Legitimate providers incorrectly flagged, which leads to wasted investigations</a:t>
            </a:r>
          </a:p>
        </p:txBody>
      </p:sp>
      <p:sp>
        <p:nvSpPr>
          <p:cNvPr id="5" name="Text Placeholder 4">
            <a:extLst>
              <a:ext uri="{FF2B5EF4-FFF2-40B4-BE49-F238E27FC236}">
                <a16:creationId xmlns:a16="http://schemas.microsoft.com/office/drawing/2014/main" id="{E681235C-87C3-6B01-1882-4F3AE98D4DFD}"/>
              </a:ext>
            </a:extLst>
          </p:cNvPr>
          <p:cNvSpPr>
            <a:spLocks noGrp="1"/>
          </p:cNvSpPr>
          <p:nvPr>
            <p:ph type="body" sz="quarter" idx="3"/>
          </p:nvPr>
        </p:nvSpPr>
        <p:spPr/>
        <p:txBody>
          <a:bodyPr>
            <a:normAutofit/>
          </a:bodyPr>
          <a:lstStyle/>
          <a:p>
            <a:r>
              <a:rPr lang="en-US" sz="2400" dirty="0"/>
              <a:t>False Negatives:</a:t>
            </a:r>
          </a:p>
        </p:txBody>
      </p:sp>
      <p:sp>
        <p:nvSpPr>
          <p:cNvPr id="6" name="Content Placeholder 5">
            <a:extLst>
              <a:ext uri="{FF2B5EF4-FFF2-40B4-BE49-F238E27FC236}">
                <a16:creationId xmlns:a16="http://schemas.microsoft.com/office/drawing/2014/main" id="{5EB912FE-F885-297C-3275-8415652BE74C}"/>
              </a:ext>
            </a:extLst>
          </p:cNvPr>
          <p:cNvSpPr>
            <a:spLocks noGrp="1"/>
          </p:cNvSpPr>
          <p:nvPr>
            <p:ph sz="quarter" idx="4"/>
          </p:nvPr>
        </p:nvSpPr>
        <p:spPr/>
        <p:txBody>
          <a:bodyPr>
            <a:normAutofit/>
          </a:bodyPr>
          <a:lstStyle/>
          <a:p>
            <a:r>
              <a:rPr lang="en-US" sz="2400" dirty="0"/>
              <a:t>Fraudulent providers missed, which leads to financial loss</a:t>
            </a:r>
          </a:p>
        </p:txBody>
      </p:sp>
      <p:sp>
        <p:nvSpPr>
          <p:cNvPr id="7" name="TextBox 6">
            <a:extLst>
              <a:ext uri="{FF2B5EF4-FFF2-40B4-BE49-F238E27FC236}">
                <a16:creationId xmlns:a16="http://schemas.microsoft.com/office/drawing/2014/main" id="{5889517E-4965-859A-DEE1-50DE13D35A5E}"/>
              </a:ext>
            </a:extLst>
          </p:cNvPr>
          <p:cNvSpPr txBox="1"/>
          <p:nvPr/>
        </p:nvSpPr>
        <p:spPr>
          <a:xfrm>
            <a:off x="1066800" y="5240215"/>
            <a:ext cx="9272954" cy="400110"/>
          </a:xfrm>
          <a:prstGeom prst="rect">
            <a:avLst/>
          </a:prstGeom>
          <a:noFill/>
        </p:spPr>
        <p:txBody>
          <a:bodyPr wrap="square" rtlCol="0">
            <a:spAutoFit/>
          </a:bodyPr>
          <a:lstStyle/>
          <a:p>
            <a:r>
              <a:rPr lang="en-US" sz="2000" dirty="0"/>
              <a:t>Understanding mistakes helps us improve the feature set or adjust class weighting</a:t>
            </a:r>
          </a:p>
        </p:txBody>
      </p:sp>
    </p:spTree>
    <p:extLst>
      <p:ext uri="{BB962C8B-B14F-4D97-AF65-F5344CB8AC3E}">
        <p14:creationId xmlns:p14="http://schemas.microsoft.com/office/powerpoint/2010/main" val="39725193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7FD55-C0A8-6143-B3AC-824D6450D4B2}"/>
              </a:ext>
            </a:extLst>
          </p:cNvPr>
          <p:cNvSpPr>
            <a:spLocks noGrp="1"/>
          </p:cNvSpPr>
          <p:nvPr>
            <p:ph type="title"/>
          </p:nvPr>
        </p:nvSpPr>
        <p:spPr/>
        <p:txBody>
          <a:bodyPr/>
          <a:lstStyle/>
          <a:p>
            <a:r>
              <a:rPr lang="en-US" dirty="0"/>
              <a:t>Project Summary:</a:t>
            </a:r>
          </a:p>
        </p:txBody>
      </p:sp>
      <p:sp>
        <p:nvSpPr>
          <p:cNvPr id="3" name="Content Placeholder 2">
            <a:extLst>
              <a:ext uri="{FF2B5EF4-FFF2-40B4-BE49-F238E27FC236}">
                <a16:creationId xmlns:a16="http://schemas.microsoft.com/office/drawing/2014/main" id="{67AF7BCA-895F-D229-8E20-571523835B91}"/>
              </a:ext>
            </a:extLst>
          </p:cNvPr>
          <p:cNvSpPr>
            <a:spLocks noGrp="1"/>
          </p:cNvSpPr>
          <p:nvPr>
            <p:ph idx="1"/>
          </p:nvPr>
        </p:nvSpPr>
        <p:spPr/>
        <p:txBody>
          <a:bodyPr>
            <a:normAutofit/>
          </a:bodyPr>
          <a:lstStyle/>
          <a:p>
            <a:pPr marL="0" indent="0">
              <a:buNone/>
            </a:pPr>
            <a:r>
              <a:rPr lang="en-US" sz="2000" dirty="0"/>
              <a:t>We have:</a:t>
            </a:r>
          </a:p>
          <a:p>
            <a:r>
              <a:rPr lang="en-US" sz="2000" dirty="0"/>
              <a:t>Explored and understood all datasets</a:t>
            </a:r>
          </a:p>
          <a:p>
            <a:r>
              <a:rPr lang="en-US" sz="2000" dirty="0"/>
              <a:t>Performed data quality checks</a:t>
            </a:r>
          </a:p>
          <a:p>
            <a:r>
              <a:rPr lang="en-US" sz="2000" dirty="0"/>
              <a:t>Aggregated claims into provider-level features</a:t>
            </a:r>
          </a:p>
          <a:p>
            <a:r>
              <a:rPr lang="en-US" sz="2000" dirty="0"/>
              <a:t>Identified key behavioural differences</a:t>
            </a:r>
          </a:p>
          <a:p>
            <a:r>
              <a:rPr lang="en-US" sz="2000" dirty="0"/>
              <a:t>Addressed class imbalance</a:t>
            </a:r>
          </a:p>
          <a:p>
            <a:r>
              <a:rPr lang="en-US" sz="2000" dirty="0"/>
              <a:t>Prepared multiple models for training</a:t>
            </a:r>
          </a:p>
          <a:p>
            <a:r>
              <a:rPr lang="en-US" sz="2000" dirty="0"/>
              <a:t>Assisted medicare in identifying high-risk providers efficiently</a:t>
            </a:r>
          </a:p>
        </p:txBody>
      </p:sp>
    </p:spTree>
    <p:extLst>
      <p:ext uri="{BB962C8B-B14F-4D97-AF65-F5344CB8AC3E}">
        <p14:creationId xmlns:p14="http://schemas.microsoft.com/office/powerpoint/2010/main" val="20032867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avon">
      <a:majorFont>
        <a:latin typeface="Sagona Extra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Sagona Book"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Override1.xml><?xml version="1.0" encoding="utf-8"?>
<a:themeOverride xmlns:a="http://schemas.openxmlformats.org/drawingml/2006/main">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themeOverride>
</file>

<file path=ppt/theme/themeOverride2.xml><?xml version="1.0" encoding="utf-8"?>
<a:themeOverride xmlns:a="http://schemas.openxmlformats.org/drawingml/2006/main">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E2713E1-6312-427E-BFCB-C5A5DA301373}">
  <ds:schemaRefs>
    <ds:schemaRef ds:uri="http://schemas.microsoft.com/sharepoint/v3/contenttype/forms"/>
  </ds:schemaRefs>
</ds:datastoreItem>
</file>

<file path=customXml/itemProps2.xml><?xml version="1.0" encoding="utf-8"?>
<ds:datastoreItem xmlns:ds="http://schemas.openxmlformats.org/officeDocument/2006/customXml" ds:itemID="{52F3B215-496E-4790-A364-7C1C46DEC771}">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50DB95DD-0319-4EE5-8C5C-9CEDF75E02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{58011B46-5A8E-4AE4-8D7A-1A092247054A}tf78829772_win32</Template>
  <TotalTime>163</TotalTime>
  <Words>769</Words>
  <Application>Microsoft Office PowerPoint</Application>
  <PresentationFormat>Widescreen</PresentationFormat>
  <Paragraphs>125</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Garamond</vt:lpstr>
      <vt:lpstr>Sagona Book</vt:lpstr>
      <vt:lpstr>Sagona ExtraLight</vt:lpstr>
      <vt:lpstr>SavonVTI</vt:lpstr>
      <vt:lpstr>Healthcare provider fraud detection</vt:lpstr>
      <vt:lpstr>Project Overview:</vt:lpstr>
      <vt:lpstr>Why is fraud detection important:</vt:lpstr>
      <vt:lpstr>Datasets:</vt:lpstr>
      <vt:lpstr>Data Quality checks:</vt:lpstr>
      <vt:lpstr>Data Observations:</vt:lpstr>
      <vt:lpstr>Fraud vs Non-Fraud: Class Distribution</vt:lpstr>
      <vt:lpstr>Reimbursement behaviour across providers</vt:lpstr>
      <vt:lpstr>Provider-level feature spread</vt:lpstr>
      <vt:lpstr>Why aggregation was essential</vt:lpstr>
      <vt:lpstr>What Features We Engineered:</vt:lpstr>
      <vt:lpstr>Insights after aggregation  Comparing aggregated metrics between fraud and non-fraud providers:</vt:lpstr>
      <vt:lpstr>The Class Imbalance Issue</vt:lpstr>
      <vt:lpstr>How we handled imbalance</vt:lpstr>
      <vt:lpstr>Algorithms Considered</vt:lpstr>
      <vt:lpstr>Our model comparison will include:</vt:lpstr>
      <vt:lpstr>Evaluating the models</vt:lpstr>
      <vt:lpstr>Expected Model Strengths</vt:lpstr>
      <vt:lpstr>Error Analysis: Why does it matter?  We will review:</vt:lpstr>
      <vt:lpstr>Project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 mohab</dc:creator>
  <cp:lastModifiedBy>Ahmed Riad</cp:lastModifiedBy>
  <cp:revision>2</cp:revision>
  <dcterms:created xsi:type="dcterms:W3CDTF">2025-12-03T19:12:56Z</dcterms:created>
  <dcterms:modified xsi:type="dcterms:W3CDTF">2025-12-03T22:05:11Z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